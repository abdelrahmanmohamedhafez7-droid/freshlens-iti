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680" autoAdjust="0"/>
  </p:normalViewPr>
  <p:slideViewPr>
    <p:cSldViewPr snapToGrid="0">
      <p:cViewPr varScale="1">
        <p:scale>
          <a:sx n="76" d="100"/>
          <a:sy n="76" d="100"/>
        </p:scale>
        <p:origin x="917"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Controlled</c:v>
          </c:tx>
          <c:spPr>
            <a:solidFill>
              <a:srgbClr val="137C62"/>
            </a:solidFill>
          </c:spPr>
          <c:invertIfNegative val="1"/>
          <c:dLbls>
            <c:dLbl>
              <c:idx val="0"/>
              <c:tx>
                <c:rich>
                  <a:bodyPr/>
                  <a:lstStyle/>
                  <a:p>
                    <a:r>
                      <a:t>24.18%</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00D4-4051-9393-C728657C4A06}"/>
                </c:ext>
              </c:extLst>
            </c:dLbl>
            <c:dLbl>
              <c:idx val="1"/>
              <c:tx>
                <c:rich>
                  <a:bodyPr/>
                  <a:lstStyle/>
                  <a:p>
                    <a:r>
                      <a:t>48.25%</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00D4-4051-9393-C728657C4A06}"/>
                </c:ext>
              </c:extLst>
            </c:dLbl>
            <c:dLbl>
              <c:idx val="2"/>
              <c:tx>
                <c:rich>
                  <a:bodyPr/>
                  <a:lstStyle/>
                  <a:p>
                    <a:r>
                      <a:t>50.40%</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00D4-4051-9393-C728657C4A06}"/>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CNN</c:v>
              </c:pt>
              <c:pt idx="1">
                <c:v>Frozen base</c:v>
              </c:pt>
              <c:pt idx="2">
                <c:v>Fine-tuned</c:v>
              </c:pt>
            </c:strLit>
          </c:cat>
          <c:val>
            <c:numLit>
              <c:formatCode>0.00%</c:formatCode>
              <c:ptCount val="3"/>
              <c:pt idx="0">
                <c:v>0.24179999999999999</c:v>
              </c:pt>
              <c:pt idx="1">
                <c:v>0.48249999999999998</c:v>
              </c:pt>
              <c:pt idx="2">
                <c:v>0.504</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00D4-4051-9393-C728657C4A06}"/>
            </c:ext>
          </c:extLst>
        </c:ser>
        <c:ser>
          <c:idx val="1"/>
          <c:order val="1"/>
          <c:tx>
            <c:v>Natural</c:v>
          </c:tx>
          <c:spPr>
            <a:solidFill>
              <a:srgbClr val="F4B34D"/>
            </a:solidFill>
          </c:spPr>
          <c:invertIfNegative val="1"/>
          <c:dLbls>
            <c:dLbl>
              <c:idx val="0"/>
              <c:tx>
                <c:rich>
                  <a:bodyPr/>
                  <a:lstStyle/>
                  <a:p>
                    <a:r>
                      <a:t>9.48%</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00D4-4051-9393-C728657C4A06}"/>
                </c:ext>
              </c:extLst>
            </c:dLbl>
            <c:dLbl>
              <c:idx val="1"/>
              <c:tx>
                <c:rich>
                  <a:bodyPr/>
                  <a:lstStyle/>
                  <a:p>
                    <a:r>
                      <a:t>35.34%</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00D4-4051-9393-C728657C4A06}"/>
                </c:ext>
              </c:extLst>
            </c:dLbl>
            <c:dLbl>
              <c:idx val="2"/>
              <c:tx>
                <c:rich>
                  <a:bodyPr/>
                  <a:lstStyle/>
                  <a:p>
                    <a:r>
                      <a:t>31.03%</a:t>
                    </a:r>
                  </a:p>
                </c:rich>
              </c:tx>
              <c:showLegendKey val="0"/>
              <c:showVal val="0"/>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00D4-4051-9393-C728657C4A06}"/>
                </c:ext>
              </c:extLst>
            </c:dLbl>
            <c:spPr>
              <a:noFill/>
              <a:ln>
                <a:noFill/>
              </a:ln>
              <a:effectLst/>
            </c:spPr>
            <c:showLegendKey val="1"/>
            <c:showVal val="1"/>
            <c:showCatName val="1"/>
            <c:showSerName val="1"/>
            <c:showPercent val="1"/>
            <c:showBubbleSize val="1"/>
            <c:showLeaderLines val="0"/>
            <c:extLst>
              <c:ext xmlns:c15="http://schemas.microsoft.com/office/drawing/2012/chart" uri="{CE6537A1-D6FC-4f65-9D91-7224C49458BB}">
                <c15:showLeaderLines val="0"/>
              </c:ext>
            </c:extLst>
          </c:dLbls>
          <c:cat>
            <c:strLit>
              <c:ptCount val="3"/>
              <c:pt idx="0">
                <c:v>CNN</c:v>
              </c:pt>
              <c:pt idx="1">
                <c:v>Frozen base</c:v>
              </c:pt>
              <c:pt idx="2">
                <c:v>Fine-tuned</c:v>
              </c:pt>
            </c:strLit>
          </c:cat>
          <c:val>
            <c:numLit>
              <c:formatCode>0.00%</c:formatCode>
              <c:ptCount val="3"/>
              <c:pt idx="0">
                <c:v>9.4799999999999995E-2</c:v>
              </c:pt>
              <c:pt idx="1">
                <c:v>0.35339999999999999</c:v>
              </c:pt>
              <c:pt idx="2">
                <c:v>0.31030000000000002</c:v>
              </c:pt>
            </c:numLit>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7-00D4-4051-9393-C728657C4A06}"/>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00">
                <a:solidFill>
                  <a:srgbClr val="102B3B"/>
                </a:solidFill>
              </a:defRPr>
            </a:pPr>
            <a:endParaRPr lang="en-US"/>
          </a:p>
        </c:txPr>
        <c:crossAx val="48672768"/>
        <c:crosses val="autoZero"/>
        <c:auto val="1"/>
        <c:lblAlgn val="ctr"/>
        <c:lblOffset val="100"/>
        <c:noMultiLvlLbl val="1"/>
      </c:catAx>
      <c:valAx>
        <c:axId val="48672768"/>
        <c:scaling>
          <c:orientation val="minMax"/>
          <c:max val="1"/>
          <c:min val="0"/>
        </c:scaling>
        <c:delete val="0"/>
        <c:axPos val="l"/>
        <c:majorGridlines>
          <c:spPr>
            <a:ln w="9525">
              <a:solidFill>
                <a:srgbClr val="D8E3DE"/>
              </a:solidFill>
            </a:ln>
          </c:spPr>
        </c:majorGridlines>
        <c:numFmt formatCode="0.00%" sourceLinked="1"/>
        <c:majorTickMark val="none"/>
        <c:minorTickMark val="none"/>
        <c:tickLblPos val="nextTo"/>
        <c:spPr>
          <a:ln w="9525">
            <a:solidFill>
              <a:srgbClr val="D4D4D4"/>
            </a:solidFill>
            <a:prstDash val="solid"/>
          </a:ln>
        </c:spPr>
        <c:txPr>
          <a:bodyPr anchorCtr="1"/>
          <a:lstStyle/>
          <a:p>
            <a:pPr>
              <a:defRPr sz="1350">
                <a:solidFill>
                  <a:srgbClr val="526C75"/>
                </a:solidFill>
              </a:defRPr>
            </a:pPr>
            <a:endParaRPr lang="en-US"/>
          </a:p>
        </c:txPr>
        <c:crossAx val="48650112"/>
        <c:crosses val="autoZero"/>
        <c:crossBetween val="between"/>
        <c:majorUnit val="0.2"/>
      </c:valAx>
      <c:spPr>
        <a:solidFill>
          <a:srgbClr val="F5F8F7"/>
        </a:solidFill>
      </c:spPr>
    </c:plotArea>
    <c:legend>
      <c:legendPos val="b"/>
      <c:overlay val="0"/>
      <c:txPr>
        <a:bodyPr anchorCtr="1"/>
        <a:lstStyle/>
        <a:p>
          <a:pPr>
            <a:defRPr sz="1425">
              <a:solidFill>
                <a:srgbClr val="102B3B"/>
              </a:solidFill>
            </a:defRPr>
          </a:pPr>
          <a:endParaRPr lang="en-US"/>
        </a:p>
      </c:txPr>
    </c:legend>
    <c:plotVisOnly val="1"/>
    <c:dispBlanksAs val="zero"/>
    <c:showDLblsOverMax val="1"/>
  </c:chart>
  <c:spPr>
    <a:solidFill>
      <a:srgbClr val="F5F8F7"/>
    </a:solid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Introduce FreshLens as a student computer vision project. The system classifies one product image into a general category. Explain the complete workflow: data audit, model comparison, evaluation and local application.</a:t>
            </a:r>
          </a:p>
          <a:p>
            <a:endParaRPr/>
          </a:p>
          <a:p>
            <a:r>
              <a:t>[Sources]</a:t>
            </a:r>
          </a:p>
          <a:p>
            <a:r>
              <a:t>User-supplied FreshLens project, final combined model export and executed training notebook.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is product classification, not a complete inventory system. Explain why grouping varieties under general types better matches the intended interface. A softmax score is not a guarantee that an answer is correct.</a:t>
            </a:r>
          </a:p>
          <a:p>
            <a:endParaRPr/>
          </a:p>
          <a:p>
            <a:r>
              <a:t>[Sources]</a:t>
            </a:r>
          </a:p>
          <a:p>
            <a:r>
              <a:t>User-supplied FreshLens project, final combined model export and executed training notebook.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audit identified all 49,236 three-body files as exact matches of files in the 100×100 source. They were not added as extra examples. Multi images required review and cropping. Original labels were mapped to 84 categories. Source documentation and licenses are preserved in the project.</a:t>
            </a:r>
          </a:p>
          <a:p>
            <a:endParaRPr/>
          </a:p>
          <a:p>
            <a:r>
              <a:t>[Sources]</a:t>
            </a:r>
          </a:p>
          <a:p>
            <a:r>
              <a:t>Fruits-360: https://github.com/fruits-360</a:t>
            </a:r>
          </a:p>
          <a:p>
            <a:r>
              <a:t>Project: training_assets/Dataset_Audit/source_summary.csv and exact_duplicates_across_sources.csv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application uses the same input pipeline, including TensorFlow JPEG decoding and normalization inside the model. Controlled images use normalized variety groups. Natural images use 2018 for validation, 2022 for test, and other known years for training. These proxies reduce overlap risks but do not prove independent objects. The project selected 626 dated natural regions before final duplicate checks.</a:t>
            </a:r>
          </a:p>
          <a:p>
            <a:endParaRPr/>
          </a:p>
          <a:p>
            <a:r>
              <a:t>[Sources]</a:t>
            </a:r>
          </a:p>
          <a:p>
            <a:r>
              <a:t>Project: inference.py, reports/training_examples.png, reports/split_manifest.csv, reports/multi_annotations.csv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CNN has three convolution/pooling blocks. Both MobileNet experiments begin with ImageNet-pretrained features. Fine-tuning unfreezes the final 30 base layers except batch normalization. The natural training images were oversampled to about one quarter of rows per epoch. This repeats existing scenes rather than creating new scenes. Best checkpoints use validation loss.</a:t>
            </a:r>
          </a:p>
          <a:p>
            <a:endParaRPr/>
          </a:p>
          <a:p>
            <a:r>
              <a:t>[Sources]</a:t>
            </a:r>
          </a:p>
          <a:p>
            <a:r>
              <a:t>User-supplied FreshLens project, final combined model export and executed training notebook.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natural test covers only 17 of the 84 supported categories. Macro metrics average over categories present in each subset. Each domain has equal weight in the selection loss. Logged validation accuracy is unweighted, unlike weighted validation loss. Training curves also reflect augmentation and oversampling. Test results never change the selection.</a:t>
            </a:r>
          </a:p>
          <a:p>
            <a:endParaRPr/>
          </a:p>
          <a:p>
            <a:r>
              <a:t>[Sources]</a:t>
            </a:r>
          </a:p>
          <a:p>
            <a:r>
              <a:t>Project: reports/validation_comparison.csv, reports/test_comparison.csv and reports/model_selection.csv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Exact accuracy values: CNN controlled 24.18%, natural 9.48%; frozen base controlled 48.25%, natural 35.34%; fine-tuned controlled 50.40%, natural 31.03%. Macro F1: CNN 13.65% and 4.81%; frozen base 34.39% and 25.17%; fine-tuned 36.84% and 25.23%. The frozen-base checkpoint was selected using validation loss. Fine-tuning slightly improved controlled accuracy but reduced natural accuracy. Earlier high scores used a different split protocol and are not directly comparable.</a:t>
            </a:r>
          </a:p>
          <a:p>
            <a:endParaRPr/>
          </a:p>
          <a:p>
            <a:r>
              <a:t>[Sources]</a:t>
            </a:r>
          </a:p>
          <a:p>
            <a:r>
              <a:t>Project: reports/test_comparison.csv and reports/model_selection.csv</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Demonstrate the real application live: upload, analyze and then open Model results &amp; evidence. This slide shows actual exported error examples, not an application screenshot. Learning curves exist for all three runs; per-class reports and errors are available only for the selected model. The app performs inference without training. A high score can still be wrong.</a:t>
            </a:r>
          </a:p>
          <a:p>
            <a:endParaRPr/>
          </a:p>
          <a:p>
            <a:r>
              <a:t>[Sources]</a:t>
            </a:r>
          </a:p>
          <a:p>
            <a:r>
              <a:t>Project: Retail_Combined_App/app.py and reports/prediction_errors.png</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Describe the business uses as possible future assistance, not demonstrated savings. The current model is an educational prototype and is unsuitable for unattended retail decisions. A staff member must review predictions. The small natural test set and limited category coverage constrain the conclusions.</a:t>
            </a:r>
          </a:p>
          <a:p>
            <a:endParaRPr/>
          </a:p>
          <a:p>
            <a:r>
              <a:t>[Sources]</a:t>
            </a:r>
          </a:p>
          <a:p>
            <a:r>
              <a:t>User-supplied FreshLens project, final combined model export and executed training notebook.</a:t>
            </a:r>
          </a:p>
          <a:p>
            <a:r>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Close by connecting the original goal to the evidence. We delivered a working pipeline, but reliable recognition still needs better natural-image data and stronger independent evaluation. Calibration and rejection of unsupported products are future work, not existing features. Invite questions.</a:t>
            </a:r>
          </a:p>
          <a:p>
            <a:endParaRPr dirty="0"/>
          </a:p>
          <a:p>
            <a:r>
              <a:rPr dirty="0"/>
              <a:t>[Sources]</a:t>
            </a:r>
          </a:p>
          <a:p>
            <a:r>
              <a:rPr dirty="0"/>
              <a:t>User-supplied </a:t>
            </a:r>
            <a:r>
              <a:rPr dirty="0" err="1"/>
              <a:t>FreshLens</a:t>
            </a:r>
            <a:r>
              <a:rPr dirty="0"/>
              <a:t> project, final combined model export and executed training notebook.</a:t>
            </a:r>
          </a:p>
          <a:p>
            <a:r>
              <a:rPr dirty="0"/>
              <a:t>[/Sources]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02B3B"/>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5F50D656-E8DF-402E-A8D1-B0FC26CBF0B5}"/>
              </a:ext>
            </a:extLst>
          </p:cNvPr>
          <p:cNvSpPr>
            <a:spLocks noGrp="1"/>
          </p:cNvSpPr>
          <p:nvPr/>
        </p:nvSpPr>
        <p:spPr>
          <a:xfrm>
            <a:off x="609600" y="323850"/>
            <a:ext cx="10477500" cy="285750"/>
          </a:xfrm>
          <a:prstGeom prst="rect">
            <a:avLst/>
          </a:prstGeom>
          <a:noFill/>
          <a:ln w="0">
            <a:noFill/>
          </a:ln>
        </p:spPr>
        <p:txBody>
          <a:bodyPr/>
          <a:lstStyle/>
          <a:p>
            <a:pPr>
              <a:defRPr sz="1350" b="1">
                <a:solidFill>
                  <a:srgbClr val="67D5AC"/>
                </a:solidFill>
              </a:defRPr>
            </a:pPr>
            <a:r>
              <a:rPr sz="1350" b="1">
                <a:solidFill>
                  <a:srgbClr val="67D5AC"/>
                </a:solidFill>
              </a:rPr>
              <a:t>COMPUTER VISION FINAL PROJECT</a:t>
            </a:r>
          </a:p>
        </p:txBody>
      </p:sp>
      <p:sp>
        <p:nvSpPr>
          <p:cNvPr id="2" name="Rectangle 1">
            <a:extLst>
              <a:ext uri="{FF2B5EF4-FFF2-40B4-BE49-F238E27FC236}">
                <a16:creationId xmlns:a16="http://schemas.microsoft.com/office/drawing/2014/main" id="{DF8F8439-D5E2-42E2-97FB-4E96DFD5DDF2}"/>
              </a:ext>
            </a:extLst>
          </p:cNvPr>
          <p:cNvSpPr>
            <a:spLocks noGrp="1"/>
          </p:cNvSpPr>
          <p:nvPr/>
        </p:nvSpPr>
        <p:spPr>
          <a:xfrm>
            <a:off x="609600" y="824840"/>
            <a:ext cx="10972800" cy="876300"/>
          </a:xfrm>
          <a:prstGeom prst="rect">
            <a:avLst/>
          </a:prstGeom>
          <a:noFill/>
          <a:ln w="0">
            <a:noFill/>
          </a:ln>
        </p:spPr>
        <p:txBody>
          <a:bodyPr/>
          <a:lstStyle/>
          <a:p>
            <a:pPr>
              <a:defRPr sz="3450" b="1">
                <a:solidFill>
                  <a:srgbClr val="FFFFFF"/>
                </a:solidFill>
              </a:defRPr>
            </a:pPr>
            <a:r>
              <a:rPr sz="3450" b="1" dirty="0" err="1">
                <a:solidFill>
                  <a:srgbClr val="FFFFFF"/>
                </a:solidFill>
              </a:rPr>
              <a:t>FreshLens</a:t>
            </a:r>
            <a:endParaRPr sz="3450" b="1" dirty="0">
              <a:solidFill>
                <a:srgbClr val="FFFFFF"/>
              </a:solidFill>
            </a:endParaRPr>
          </a:p>
        </p:txBody>
      </p:sp>
      <p:sp>
        <p:nvSpPr>
          <p:cNvPr id="3" name="Rectangle 2">
            <a:extLst>
              <a:ext uri="{FF2B5EF4-FFF2-40B4-BE49-F238E27FC236}">
                <a16:creationId xmlns:a16="http://schemas.microsoft.com/office/drawing/2014/main" id="{460F1B84-5888-4E71-942E-1D3356036A96}"/>
              </a:ext>
            </a:extLst>
          </p:cNvPr>
          <p:cNvSpPr>
            <a:spLocks noGrp="1"/>
          </p:cNvSpPr>
          <p:nvPr/>
        </p:nvSpPr>
        <p:spPr>
          <a:xfrm>
            <a:off x="609600" y="6381750"/>
            <a:ext cx="9048750" cy="238125"/>
          </a:xfrm>
          <a:prstGeom prst="rect">
            <a:avLst/>
          </a:prstGeom>
          <a:noFill/>
          <a:ln w="0">
            <a:noFill/>
          </a:ln>
        </p:spPr>
        <p:txBody>
          <a:bodyPr/>
          <a:lstStyle/>
          <a:p>
            <a:pPr>
              <a:defRPr sz="1200" b="0">
                <a:solidFill>
                  <a:srgbClr val="AFC8CB"/>
                </a:solidFill>
              </a:defRPr>
            </a:pPr>
            <a:r>
              <a:rPr sz="1200" b="0">
                <a:solidFill>
                  <a:srgbClr val="AFC8CB"/>
                </a:solidFill>
              </a:rPr>
              <a:t>FRESHLENS  /  ITI SUMMER TRAINING</a:t>
            </a:r>
          </a:p>
        </p:txBody>
      </p:sp>
      <p:sp>
        <p:nvSpPr>
          <p:cNvPr id="4" name="Rectangle 3">
            <a:extLst>
              <a:ext uri="{FF2B5EF4-FFF2-40B4-BE49-F238E27FC236}">
                <a16:creationId xmlns:a16="http://schemas.microsoft.com/office/drawing/2014/main" id="{1E255C8C-936F-4AAD-9424-A4AC7F9C9054}"/>
              </a:ext>
            </a:extLst>
          </p:cNvPr>
          <p:cNvSpPr>
            <a:spLocks noGrp="1"/>
          </p:cNvSpPr>
          <p:nvPr/>
        </p:nvSpPr>
        <p:spPr>
          <a:xfrm>
            <a:off x="11049000" y="6334125"/>
            <a:ext cx="533400" cy="285750"/>
          </a:xfrm>
          <a:prstGeom prst="rect">
            <a:avLst/>
          </a:prstGeom>
          <a:noFill/>
          <a:ln w="0">
            <a:noFill/>
          </a:ln>
        </p:spPr>
        <p:txBody>
          <a:bodyPr/>
          <a:lstStyle/>
          <a:p>
            <a:pPr>
              <a:defRPr sz="1500" b="1">
                <a:solidFill>
                  <a:srgbClr val="67D5AC"/>
                </a:solidFill>
              </a:defRPr>
            </a:pPr>
            <a:r>
              <a:rPr sz="1500" b="1">
                <a:solidFill>
                  <a:srgbClr val="67D5AC"/>
                </a:solidFill>
              </a:rPr>
              <a:t>01</a:t>
            </a:r>
          </a:p>
        </p:txBody>
      </p:sp>
      <p:sp>
        <p:nvSpPr>
          <p:cNvPr id="5" name="Rectangle 4">
            <a:extLst>
              <a:ext uri="{FF2B5EF4-FFF2-40B4-BE49-F238E27FC236}">
                <a16:creationId xmlns:a16="http://schemas.microsoft.com/office/drawing/2014/main" id="{E3AFB681-BD7E-4E5E-9D0D-C60385D0D507}"/>
              </a:ext>
            </a:extLst>
          </p:cNvPr>
          <p:cNvSpPr>
            <a:spLocks noGrp="1"/>
          </p:cNvSpPr>
          <p:nvPr/>
        </p:nvSpPr>
        <p:spPr>
          <a:xfrm>
            <a:off x="609597" y="1378212"/>
            <a:ext cx="11197213" cy="1524000"/>
          </a:xfrm>
          <a:prstGeom prst="rect">
            <a:avLst/>
          </a:prstGeom>
          <a:noFill/>
          <a:ln w="0">
            <a:noFill/>
          </a:ln>
        </p:spPr>
        <p:txBody>
          <a:bodyPr/>
          <a:lstStyle/>
          <a:p>
            <a:pPr>
              <a:defRPr sz="4800" b="1">
                <a:solidFill>
                  <a:srgbClr val="FFFFFF"/>
                </a:solidFill>
              </a:defRPr>
            </a:pPr>
            <a:r>
              <a:rPr sz="4800" b="1" dirty="0">
                <a:solidFill>
                  <a:srgbClr val="FFFFFF"/>
                </a:solidFill>
              </a:rPr>
              <a:t>Retail Product</a:t>
            </a:r>
            <a:r>
              <a:rPr lang="en-US" sz="4800" b="1" dirty="0">
                <a:solidFill>
                  <a:srgbClr val="FFFFFF"/>
                </a:solidFill>
              </a:rPr>
              <a:t> </a:t>
            </a:r>
            <a:r>
              <a:rPr sz="4800" b="1" dirty="0">
                <a:solidFill>
                  <a:srgbClr val="FFFFFF"/>
                </a:solidFill>
              </a:rPr>
              <a:t>Recognition System</a:t>
            </a:r>
          </a:p>
        </p:txBody>
      </p:sp>
      <p:sp>
        <p:nvSpPr>
          <p:cNvPr id="6" name="Rectangle 5">
            <a:extLst>
              <a:ext uri="{FF2B5EF4-FFF2-40B4-BE49-F238E27FC236}">
                <a16:creationId xmlns:a16="http://schemas.microsoft.com/office/drawing/2014/main" id="{F28F6B9D-90F3-4DAE-AA1F-383A1CE169AE}"/>
              </a:ext>
            </a:extLst>
          </p:cNvPr>
          <p:cNvSpPr>
            <a:spLocks noGrp="1"/>
          </p:cNvSpPr>
          <p:nvPr/>
        </p:nvSpPr>
        <p:spPr>
          <a:xfrm>
            <a:off x="609597" y="2252959"/>
            <a:ext cx="10096500" cy="762000"/>
          </a:xfrm>
          <a:prstGeom prst="rect">
            <a:avLst/>
          </a:prstGeom>
          <a:noFill/>
          <a:ln w="0">
            <a:noFill/>
          </a:ln>
        </p:spPr>
        <p:txBody>
          <a:bodyPr/>
          <a:lstStyle/>
          <a:p>
            <a:pPr>
              <a:defRPr sz="2250" b="0">
                <a:solidFill>
                  <a:srgbClr val="67D5AC"/>
                </a:solidFill>
              </a:defRPr>
            </a:pPr>
            <a:r>
              <a:rPr sz="2250" b="0" dirty="0">
                <a:solidFill>
                  <a:srgbClr val="67D5AC"/>
                </a:solidFill>
              </a:rPr>
              <a:t>CNN and transfer learning for 84 general product categories</a:t>
            </a:r>
          </a:p>
        </p:txBody>
      </p:sp>
      <p:sp>
        <p:nvSpPr>
          <p:cNvPr id="7" name="Rectangle 6">
            <a:extLst>
              <a:ext uri="{FF2B5EF4-FFF2-40B4-BE49-F238E27FC236}">
                <a16:creationId xmlns:a16="http://schemas.microsoft.com/office/drawing/2014/main" id="{46F105A8-8564-426C-BAD4-14C5C7636B7D}"/>
              </a:ext>
            </a:extLst>
          </p:cNvPr>
          <p:cNvSpPr>
            <a:spLocks noGrp="1"/>
          </p:cNvSpPr>
          <p:nvPr/>
        </p:nvSpPr>
        <p:spPr>
          <a:xfrm>
            <a:off x="609597" y="5975054"/>
            <a:ext cx="3073977" cy="400050"/>
          </a:xfrm>
          <a:prstGeom prst="rect">
            <a:avLst/>
          </a:prstGeom>
          <a:noFill/>
          <a:ln w="0">
            <a:noFill/>
          </a:ln>
        </p:spPr>
        <p:txBody>
          <a:bodyPr/>
          <a:lstStyle/>
          <a:p>
            <a:pPr>
              <a:defRPr sz="1950" b="1">
                <a:solidFill>
                  <a:srgbClr val="F4B34D"/>
                </a:solidFill>
              </a:defRPr>
            </a:pPr>
            <a:r>
              <a:rPr sz="1950" b="1" dirty="0">
                <a:solidFill>
                  <a:srgbClr val="F4B34D"/>
                </a:solidFill>
              </a:rPr>
              <a:t>ITI Summer Training</a:t>
            </a:r>
          </a:p>
        </p:txBody>
      </p:sp>
      <p:sp>
        <p:nvSpPr>
          <p:cNvPr id="10" name="TextBox 9">
            <a:extLst>
              <a:ext uri="{FF2B5EF4-FFF2-40B4-BE49-F238E27FC236}">
                <a16:creationId xmlns:a16="http://schemas.microsoft.com/office/drawing/2014/main" id="{C5417849-CDE1-8705-550E-12213CA5A00E}"/>
              </a:ext>
            </a:extLst>
          </p:cNvPr>
          <p:cNvSpPr txBox="1"/>
          <p:nvPr/>
        </p:nvSpPr>
        <p:spPr>
          <a:xfrm>
            <a:off x="3842028" y="2790772"/>
            <a:ext cx="4173418" cy="461665"/>
          </a:xfrm>
          <a:prstGeom prst="rect">
            <a:avLst/>
          </a:prstGeom>
          <a:noFill/>
        </p:spPr>
        <p:txBody>
          <a:bodyPr wrap="square">
            <a:spAutoFit/>
          </a:bodyPr>
          <a:lstStyle/>
          <a:p>
            <a:pPr marL="954405" marR="1016635">
              <a:lnSpc>
                <a:spcPct val="100000"/>
              </a:lnSpc>
              <a:spcBef>
                <a:spcPts val="515"/>
              </a:spcBef>
              <a:spcAft>
                <a:spcPts val="1000"/>
              </a:spcAft>
              <a:buNone/>
            </a:pPr>
            <a:r>
              <a:rPr lang="en-US" sz="2400" b="1" i="1" u="sng" dirty="0">
                <a:solidFill>
                  <a:schemeClr val="bg1"/>
                </a:solidFill>
                <a:effectLst>
                  <a:outerShdw blurRad="38100" dist="38100" dir="2700000" algn="tl">
                    <a:srgbClr val="000000">
                      <a:alpha val="43137"/>
                    </a:srgbClr>
                  </a:outerShdw>
                </a:effectLst>
                <a:ea typeface="Times New Roman" panose="02020603050405020304" pitchFamily="18" charset="0"/>
                <a:cs typeface="Arial" panose="020B0604020202020204" pitchFamily="34" charset="0"/>
              </a:rPr>
              <a:t>Team Members</a:t>
            </a:r>
            <a:endParaRPr lang="en-US" sz="1600" i="1" u="sng" dirty="0">
              <a:solidFill>
                <a:schemeClr val="bg1"/>
              </a:solidFill>
              <a:effectLst>
                <a:outerShdw blurRad="38100" dist="38100" dir="2700000" algn="tl">
                  <a:srgbClr val="000000">
                    <a:alpha val="43137"/>
                  </a:srgbClr>
                </a:outerShdw>
              </a:effectLst>
              <a:latin typeface="Aptos" panose="020B0004020202020204" pitchFamily="34" charset="0"/>
              <a:ea typeface="Times New Roman" panose="02020603050405020304" pitchFamily="18" charset="0"/>
              <a:cs typeface="Arial" panose="020B0604020202020204" pitchFamily="34" charset="0"/>
            </a:endParaRPr>
          </a:p>
        </p:txBody>
      </p:sp>
      <p:graphicFrame>
        <p:nvGraphicFramePr>
          <p:cNvPr id="11" name="Table 10">
            <a:extLst>
              <a:ext uri="{FF2B5EF4-FFF2-40B4-BE49-F238E27FC236}">
                <a16:creationId xmlns:a16="http://schemas.microsoft.com/office/drawing/2014/main" id="{283FADFF-935D-A57C-82E7-791A6D61F605}"/>
              </a:ext>
            </a:extLst>
          </p:cNvPr>
          <p:cNvGraphicFramePr>
            <a:graphicFrameLocks noGrp="1"/>
          </p:cNvGraphicFramePr>
          <p:nvPr>
            <p:extLst>
              <p:ext uri="{D42A27DB-BD31-4B8C-83A1-F6EECF244321}">
                <p14:modId xmlns:p14="http://schemas.microsoft.com/office/powerpoint/2010/main" val="1056050993"/>
              </p:ext>
            </p:extLst>
          </p:nvPr>
        </p:nvGraphicFramePr>
        <p:xfrm>
          <a:off x="2979724" y="3242297"/>
          <a:ext cx="5737252" cy="2870225"/>
        </p:xfrm>
        <a:graphic>
          <a:graphicData uri="http://schemas.openxmlformats.org/drawingml/2006/table">
            <a:tbl>
              <a:tblPr firstRow="1" firstCol="1" lastRow="1" lastCol="1" bandRow="1" bandCol="1">
                <a:tableStyleId>{3B4B98B0-60AC-42C2-AFA5-B58CD77FA1E5}</a:tableStyleId>
              </a:tblPr>
              <a:tblGrid>
                <a:gridCol w="5737252">
                  <a:extLst>
                    <a:ext uri="{9D8B030D-6E8A-4147-A177-3AD203B41FA5}">
                      <a16:colId xmlns:a16="http://schemas.microsoft.com/office/drawing/2014/main" val="824802876"/>
                    </a:ext>
                  </a:extLst>
                </a:gridCol>
              </a:tblGrid>
              <a:tr h="170797">
                <a:tc>
                  <a:txBody>
                    <a:bodyPr/>
                    <a:lstStyle/>
                    <a:p>
                      <a:pPr marL="6350" marR="635" lvl="0" indent="0" algn="ctr" defTabSz="914400" eaLnBrk="1" fontAlgn="auto" latinLnBrk="0" hangingPunct="1">
                        <a:lnSpc>
                          <a:spcPct val="121212"/>
                        </a:lnSpc>
                        <a:spcBef>
                          <a:spcPts val="40"/>
                        </a:spcBef>
                        <a:spcAft>
                          <a:spcPts val="0"/>
                        </a:spcAft>
                        <a:buClrTx/>
                        <a:buSzTx/>
                        <a:buFontTx/>
                        <a:buNone/>
                        <a:tabLst/>
                        <a:defRPr/>
                      </a:pPr>
                      <a:r>
                        <a:rPr lang="en-US" sz="1800" spc="-10" dirty="0">
                          <a:solidFill>
                            <a:schemeClr val="bg1"/>
                          </a:solidFill>
                          <a:effectLst/>
                        </a:rPr>
                        <a:t>1-</a:t>
                      </a:r>
                      <a:r>
                        <a:rPr lang="en-US" sz="1800" spc="-80" dirty="0">
                          <a:solidFill>
                            <a:schemeClr val="bg1"/>
                          </a:solidFill>
                          <a:effectLst/>
                        </a:rPr>
                        <a:t> </a:t>
                      </a:r>
                      <a:r>
                        <a:rPr lang="en-US" sz="1800" spc="-10" dirty="0">
                          <a:solidFill>
                            <a:schemeClr val="bg1"/>
                          </a:solidFill>
                          <a:effectLst/>
                        </a:rPr>
                        <a:t>Abdelrahman Mohamed Hafez</a:t>
                      </a:r>
                    </a:p>
                    <a:p>
                      <a:pPr marL="6350" marR="635" algn="ctr">
                        <a:lnSpc>
                          <a:spcPct val="121212"/>
                        </a:lnSpc>
                        <a:spcBef>
                          <a:spcPts val="40"/>
                        </a:spcBef>
                        <a:buNone/>
                      </a:pP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788429517"/>
                  </a:ext>
                </a:extLst>
              </a:tr>
              <a:tr h="389439">
                <a:tc>
                  <a:txBody>
                    <a:bodyPr/>
                    <a:lstStyle/>
                    <a:p>
                      <a:pPr marL="6350" marR="635" algn="ctr">
                        <a:lnSpc>
                          <a:spcPct val="121212"/>
                        </a:lnSpc>
                        <a:spcBef>
                          <a:spcPts val="40"/>
                        </a:spcBef>
                        <a:buNone/>
                      </a:pPr>
                      <a:r>
                        <a:rPr lang="en-US" sz="1800" dirty="0">
                          <a:solidFill>
                            <a:schemeClr val="bg1"/>
                          </a:solidFill>
                          <a:effectLst/>
                        </a:rPr>
                        <a:t>2-</a:t>
                      </a:r>
                      <a:r>
                        <a:rPr lang="en-US" sz="1800" spc="-90" dirty="0">
                          <a:solidFill>
                            <a:schemeClr val="bg1"/>
                          </a:solidFill>
                          <a:effectLst/>
                        </a:rPr>
                        <a:t> </a:t>
                      </a:r>
                      <a:r>
                        <a:rPr lang="en-US" sz="1800" spc="-10" dirty="0">
                          <a:solidFill>
                            <a:schemeClr val="bg1"/>
                          </a:solidFill>
                          <a:effectLst/>
                        </a:rPr>
                        <a:t>Mohamed</a:t>
                      </a:r>
                      <a:r>
                        <a:rPr lang="en-US" sz="1800" spc="-55" dirty="0">
                          <a:solidFill>
                            <a:schemeClr val="bg1"/>
                          </a:solidFill>
                          <a:effectLst/>
                        </a:rPr>
                        <a:t> </a:t>
                      </a:r>
                      <a:r>
                        <a:rPr lang="en-US" sz="1800" spc="-10" dirty="0">
                          <a:solidFill>
                            <a:schemeClr val="bg1"/>
                          </a:solidFill>
                          <a:effectLst/>
                        </a:rPr>
                        <a:t>Tamer</a:t>
                      </a:r>
                      <a:r>
                        <a:rPr lang="en-US" sz="1800" spc="-45" dirty="0">
                          <a:solidFill>
                            <a:schemeClr val="bg1"/>
                          </a:solidFill>
                          <a:effectLst/>
                        </a:rPr>
                        <a:t> </a:t>
                      </a:r>
                      <a:r>
                        <a:rPr lang="en-US" sz="1800" spc="-10" dirty="0">
                          <a:solidFill>
                            <a:schemeClr val="bg1"/>
                          </a:solidFill>
                          <a:effectLst/>
                        </a:rPr>
                        <a:t>Mohamed</a:t>
                      </a: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3145373200"/>
                  </a:ext>
                </a:extLst>
              </a:tr>
              <a:tr h="389439">
                <a:tc>
                  <a:txBody>
                    <a:bodyPr/>
                    <a:lstStyle/>
                    <a:p>
                      <a:pPr marL="6350" marR="0" algn="ctr">
                        <a:lnSpc>
                          <a:spcPct val="121212"/>
                        </a:lnSpc>
                        <a:spcBef>
                          <a:spcPts val="40"/>
                        </a:spcBef>
                        <a:buNone/>
                      </a:pPr>
                      <a:r>
                        <a:rPr lang="en-US" sz="1800" spc="-20" dirty="0">
                          <a:solidFill>
                            <a:schemeClr val="bg1"/>
                          </a:solidFill>
                          <a:effectLst/>
                        </a:rPr>
                        <a:t>3-</a:t>
                      </a:r>
                      <a:r>
                        <a:rPr lang="en-US" sz="1800" spc="-50" dirty="0">
                          <a:solidFill>
                            <a:schemeClr val="bg1"/>
                          </a:solidFill>
                          <a:effectLst/>
                        </a:rPr>
                        <a:t> </a:t>
                      </a:r>
                      <a:r>
                        <a:rPr lang="en-US" sz="1800" spc="-20" dirty="0">
                          <a:solidFill>
                            <a:schemeClr val="bg1"/>
                          </a:solidFill>
                          <a:effectLst/>
                        </a:rPr>
                        <a:t>Yousef</a:t>
                      </a:r>
                      <a:r>
                        <a:rPr lang="en-US" sz="1800" spc="20" dirty="0">
                          <a:solidFill>
                            <a:schemeClr val="bg1"/>
                          </a:solidFill>
                          <a:effectLst/>
                        </a:rPr>
                        <a:t> </a:t>
                      </a:r>
                      <a:r>
                        <a:rPr lang="en-US" sz="1800" spc="-20" dirty="0">
                          <a:solidFill>
                            <a:schemeClr val="bg1"/>
                          </a:solidFill>
                          <a:effectLst/>
                        </a:rPr>
                        <a:t>Mohamed</a:t>
                      </a:r>
                      <a:r>
                        <a:rPr lang="en-US" sz="1800" spc="-70" dirty="0">
                          <a:solidFill>
                            <a:schemeClr val="bg1"/>
                          </a:solidFill>
                          <a:effectLst/>
                        </a:rPr>
                        <a:t> </a:t>
                      </a:r>
                      <a:r>
                        <a:rPr lang="en-US" sz="1800" spc="-20" dirty="0">
                          <a:solidFill>
                            <a:schemeClr val="bg1"/>
                          </a:solidFill>
                          <a:effectLst/>
                        </a:rPr>
                        <a:t>Abdelaziz</a:t>
                      </a: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536606797"/>
                  </a:ext>
                </a:extLst>
              </a:tr>
              <a:tr h="389439">
                <a:tc>
                  <a:txBody>
                    <a:bodyPr/>
                    <a:lstStyle/>
                    <a:p>
                      <a:pPr marL="6350" marR="1905" algn="ctr">
                        <a:lnSpc>
                          <a:spcPct val="121212"/>
                        </a:lnSpc>
                        <a:spcBef>
                          <a:spcPts val="40"/>
                        </a:spcBef>
                        <a:buNone/>
                      </a:pPr>
                      <a:r>
                        <a:rPr lang="en-US" sz="1800" spc="-10" dirty="0">
                          <a:solidFill>
                            <a:schemeClr val="bg1"/>
                          </a:solidFill>
                          <a:effectLst/>
                        </a:rPr>
                        <a:t>4-</a:t>
                      </a:r>
                      <a:r>
                        <a:rPr lang="en-US" sz="1800" spc="-40" dirty="0">
                          <a:solidFill>
                            <a:schemeClr val="bg1"/>
                          </a:solidFill>
                          <a:effectLst/>
                        </a:rPr>
                        <a:t> </a:t>
                      </a:r>
                      <a:r>
                        <a:rPr lang="en-US" sz="1800" spc="-10" dirty="0">
                          <a:solidFill>
                            <a:schemeClr val="bg1"/>
                          </a:solidFill>
                          <a:effectLst/>
                        </a:rPr>
                        <a:t>Khaled Said</a:t>
                      </a: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661801399"/>
                  </a:ext>
                </a:extLst>
              </a:tr>
              <a:tr h="389439">
                <a:tc>
                  <a:txBody>
                    <a:bodyPr/>
                    <a:lstStyle/>
                    <a:p>
                      <a:pPr marL="6350" marR="1270" algn="ctr">
                        <a:lnSpc>
                          <a:spcPct val="121212"/>
                        </a:lnSpc>
                        <a:spcBef>
                          <a:spcPts val="40"/>
                        </a:spcBef>
                        <a:buNone/>
                      </a:pPr>
                      <a:r>
                        <a:rPr lang="en-US" sz="1800" dirty="0">
                          <a:solidFill>
                            <a:schemeClr val="bg1"/>
                          </a:solidFill>
                          <a:effectLst/>
                        </a:rPr>
                        <a:t>5-</a:t>
                      </a:r>
                      <a:r>
                        <a:rPr lang="en-US" sz="1800" spc="-35" dirty="0">
                          <a:solidFill>
                            <a:schemeClr val="bg1"/>
                          </a:solidFill>
                          <a:effectLst/>
                        </a:rPr>
                        <a:t> </a:t>
                      </a:r>
                      <a:r>
                        <a:rPr lang="en-US" sz="1800" dirty="0">
                          <a:solidFill>
                            <a:schemeClr val="bg1"/>
                          </a:solidFill>
                          <a:effectLst/>
                        </a:rPr>
                        <a:t>Abdelrahman Mohamed Tolba</a:t>
                      </a: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1969277844"/>
                  </a:ext>
                </a:extLst>
              </a:tr>
              <a:tr h="389439">
                <a:tc>
                  <a:txBody>
                    <a:bodyPr/>
                    <a:lstStyle/>
                    <a:p>
                      <a:pPr marL="6350" marR="4445" algn="ctr">
                        <a:lnSpc>
                          <a:spcPct val="121212"/>
                        </a:lnSpc>
                        <a:spcBef>
                          <a:spcPts val="40"/>
                        </a:spcBef>
                        <a:buNone/>
                      </a:pPr>
                      <a:r>
                        <a:rPr lang="en-US" sz="1800" spc="-10">
                          <a:solidFill>
                            <a:schemeClr val="bg1"/>
                          </a:solidFill>
                          <a:effectLst/>
                        </a:rPr>
                        <a:t>6-</a:t>
                      </a:r>
                      <a:r>
                        <a:rPr lang="en-US" sz="1800" spc="-45">
                          <a:solidFill>
                            <a:schemeClr val="bg1"/>
                          </a:solidFill>
                          <a:effectLst/>
                        </a:rPr>
                        <a:t> </a:t>
                      </a:r>
                      <a:r>
                        <a:rPr lang="en-US" sz="1800">
                          <a:solidFill>
                            <a:schemeClr val="bg1"/>
                          </a:solidFill>
                          <a:effectLst/>
                        </a:rPr>
                        <a:t>Abdelrahman Emad Ahmed</a:t>
                      </a:r>
                      <a:endParaRPr lang="en-US" sz="120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959216904"/>
                  </a:ext>
                </a:extLst>
              </a:tr>
              <a:tr h="389439">
                <a:tc>
                  <a:txBody>
                    <a:bodyPr/>
                    <a:lstStyle/>
                    <a:p>
                      <a:pPr marL="6350" marR="5080" algn="ctr">
                        <a:lnSpc>
                          <a:spcPct val="121212"/>
                        </a:lnSpc>
                        <a:spcBef>
                          <a:spcPts val="40"/>
                        </a:spcBef>
                        <a:buNone/>
                      </a:pPr>
                      <a:r>
                        <a:rPr lang="en-US" sz="1800" dirty="0">
                          <a:solidFill>
                            <a:schemeClr val="bg1"/>
                          </a:solidFill>
                          <a:effectLst/>
                        </a:rPr>
                        <a:t>7-</a:t>
                      </a:r>
                      <a:r>
                        <a:rPr lang="en-US" sz="1800" spc="-30" dirty="0">
                          <a:solidFill>
                            <a:schemeClr val="bg1"/>
                          </a:solidFill>
                          <a:effectLst/>
                        </a:rPr>
                        <a:t> </a:t>
                      </a:r>
                      <a:r>
                        <a:rPr lang="en-US" sz="1800" dirty="0">
                          <a:solidFill>
                            <a:schemeClr val="bg1"/>
                          </a:solidFill>
                          <a:effectLst/>
                        </a:rPr>
                        <a:t>Ahmed Mahmoud Mohamed</a:t>
                      </a:r>
                      <a:endParaRPr lang="en-US" sz="1200" dirty="0">
                        <a:solidFill>
                          <a:schemeClr val="bg1"/>
                        </a:solidFill>
                        <a:effectLst/>
                        <a:latin typeface="Times New Roman" panose="02020603050405020304" pitchFamily="18" charset="0"/>
                        <a:ea typeface="Times New Roman" panose="02020603050405020304" pitchFamily="18" charset="0"/>
                      </a:endParaRPr>
                    </a:p>
                  </a:txBody>
                  <a:tcPr marL="0" marR="0" marT="0" marB="0"/>
                </a:tc>
                <a:extLst>
                  <a:ext uri="{0D108BD9-81ED-4DB2-BD59-A6C34878D82A}">
                    <a16:rowId xmlns:a16="http://schemas.microsoft.com/office/drawing/2014/main" val="2041295192"/>
                  </a:ext>
                </a:extLst>
              </a:tr>
            </a:tbl>
          </a:graphicData>
        </a:graphic>
      </p:graphicFrame>
    </p:spTree>
    <p:extLst>
      <p:ext uri="{BB962C8B-B14F-4D97-AF65-F5344CB8AC3E}">
        <p14:creationId xmlns:p14="http://schemas.microsoft.com/office/powerpoint/2010/main" val="15457676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834A0252-C2E2-4181-B225-0A1E46B45594}"/>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01 / PROBLEM AND OBJECTIVE</a:t>
            </a:r>
          </a:p>
        </p:txBody>
      </p:sp>
      <p:sp>
        <p:nvSpPr>
          <p:cNvPr id="2" name="Rectangle 1">
            <a:extLst>
              <a:ext uri="{FF2B5EF4-FFF2-40B4-BE49-F238E27FC236}">
                <a16:creationId xmlns:a16="http://schemas.microsoft.com/office/drawing/2014/main" id="{5286D07D-43BA-4E91-8132-F014F82E4774}"/>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One image. One general product category.</a:t>
            </a:r>
          </a:p>
        </p:txBody>
      </p:sp>
      <p:sp>
        <p:nvSpPr>
          <p:cNvPr id="3" name="Rectangle 2">
            <a:extLst>
              <a:ext uri="{FF2B5EF4-FFF2-40B4-BE49-F238E27FC236}">
                <a16:creationId xmlns:a16="http://schemas.microsoft.com/office/drawing/2014/main" id="{D54C45EF-0713-4E00-A468-9697CF46EB9B}"/>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DCEB3B3E-415F-4EA9-AA48-C3DDF04C9E89}"/>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02</a:t>
            </a:r>
          </a:p>
        </p:txBody>
      </p:sp>
      <p:sp>
        <p:nvSpPr>
          <p:cNvPr id="5" name="Rectangle 4">
            <a:extLst>
              <a:ext uri="{FF2B5EF4-FFF2-40B4-BE49-F238E27FC236}">
                <a16:creationId xmlns:a16="http://schemas.microsoft.com/office/drawing/2014/main" id="{E7D73061-8563-422C-BDF2-0EA7D2F43A65}"/>
              </a:ext>
            </a:extLst>
          </p:cNvPr>
          <p:cNvSpPr>
            <a:spLocks noGrp="1"/>
          </p:cNvSpPr>
          <p:nvPr/>
        </p:nvSpPr>
        <p:spPr>
          <a:xfrm>
            <a:off x="609600" y="2000250"/>
            <a:ext cx="3524250" cy="1333500"/>
          </a:xfrm>
          <a:prstGeom prst="rect">
            <a:avLst/>
          </a:prstGeom>
          <a:noFill/>
          <a:ln w="0">
            <a:noFill/>
          </a:ln>
        </p:spPr>
        <p:txBody>
          <a:bodyPr/>
          <a:lstStyle/>
          <a:p>
            <a:pPr>
              <a:defRPr sz="8400" b="1">
                <a:solidFill>
                  <a:srgbClr val="137C62"/>
                </a:solidFill>
              </a:defRPr>
            </a:pPr>
            <a:r>
              <a:rPr sz="8400" b="1">
                <a:solidFill>
                  <a:srgbClr val="137C62"/>
                </a:solidFill>
              </a:rPr>
              <a:t>84</a:t>
            </a:r>
          </a:p>
        </p:txBody>
      </p:sp>
      <p:sp>
        <p:nvSpPr>
          <p:cNvPr id="6" name="Rectangle 5">
            <a:extLst>
              <a:ext uri="{FF2B5EF4-FFF2-40B4-BE49-F238E27FC236}">
                <a16:creationId xmlns:a16="http://schemas.microsoft.com/office/drawing/2014/main" id="{27FA1649-3B04-4DA7-B433-4C14F943CA91}"/>
              </a:ext>
            </a:extLst>
          </p:cNvPr>
          <p:cNvSpPr>
            <a:spLocks noGrp="1"/>
          </p:cNvSpPr>
          <p:nvPr/>
        </p:nvSpPr>
        <p:spPr>
          <a:xfrm>
            <a:off x="666750" y="3448050"/>
            <a:ext cx="3524250" cy="523875"/>
          </a:xfrm>
          <a:prstGeom prst="rect">
            <a:avLst/>
          </a:prstGeom>
          <a:noFill/>
          <a:ln w="0">
            <a:noFill/>
          </a:ln>
        </p:spPr>
        <p:txBody>
          <a:bodyPr/>
          <a:lstStyle/>
          <a:p>
            <a:pPr>
              <a:defRPr sz="2250" b="1">
                <a:solidFill>
                  <a:srgbClr val="102B3B"/>
                </a:solidFill>
              </a:defRPr>
            </a:pPr>
            <a:r>
              <a:rPr sz="2250" b="1">
                <a:solidFill>
                  <a:srgbClr val="102B3B"/>
                </a:solidFill>
              </a:rPr>
              <a:t>supported categories</a:t>
            </a:r>
          </a:p>
        </p:txBody>
      </p:sp>
      <p:sp>
        <p:nvSpPr>
          <p:cNvPr id="7" name="Rectangle 6">
            <a:extLst>
              <a:ext uri="{FF2B5EF4-FFF2-40B4-BE49-F238E27FC236}">
                <a16:creationId xmlns:a16="http://schemas.microsoft.com/office/drawing/2014/main" id="{078BE7CA-62BB-49D0-92E9-D7D49238B4EA}"/>
              </a:ext>
            </a:extLst>
          </p:cNvPr>
          <p:cNvSpPr>
            <a:spLocks noGrp="1"/>
          </p:cNvSpPr>
          <p:nvPr/>
        </p:nvSpPr>
        <p:spPr>
          <a:xfrm>
            <a:off x="666750" y="4114800"/>
            <a:ext cx="3619500" cy="571500"/>
          </a:xfrm>
          <a:prstGeom prst="rect">
            <a:avLst/>
          </a:prstGeom>
          <a:noFill/>
          <a:ln w="0">
            <a:noFill/>
          </a:ln>
        </p:spPr>
        <p:txBody>
          <a:bodyPr/>
          <a:lstStyle/>
          <a:p>
            <a:pPr>
              <a:defRPr sz="1875" b="0">
                <a:solidFill>
                  <a:srgbClr val="526C75"/>
                </a:solidFill>
              </a:defRPr>
            </a:pPr>
            <a:r>
              <a:rPr sz="1875" b="0">
                <a:solidFill>
                  <a:srgbClr val="526C75"/>
                </a:solidFill>
              </a:rPr>
              <a:t>Apple · Banana · Tomato</a:t>
            </a:r>
          </a:p>
        </p:txBody>
      </p:sp>
      <p:sp>
        <p:nvSpPr>
          <p:cNvPr id="8" name="Rectangle 7">
            <a:extLst>
              <a:ext uri="{FF2B5EF4-FFF2-40B4-BE49-F238E27FC236}">
                <a16:creationId xmlns:a16="http://schemas.microsoft.com/office/drawing/2014/main" id="{4CCF65EC-AFCD-4680-B823-8B148217EB11}"/>
              </a:ext>
            </a:extLst>
          </p:cNvPr>
          <p:cNvSpPr>
            <a:spLocks noGrp="1"/>
          </p:cNvSpPr>
          <p:nvPr/>
        </p:nvSpPr>
        <p:spPr>
          <a:xfrm>
            <a:off x="4953000" y="2076450"/>
            <a:ext cx="6477000" cy="952500"/>
          </a:xfrm>
          <a:prstGeom prst="rect">
            <a:avLst/>
          </a:prstGeom>
          <a:noFill/>
          <a:ln w="0">
            <a:noFill/>
          </a:ln>
        </p:spPr>
        <p:txBody>
          <a:bodyPr/>
          <a:lstStyle/>
          <a:p>
            <a:pPr>
              <a:defRPr sz="2550" b="1">
                <a:solidFill>
                  <a:srgbClr val="102B3B"/>
                </a:solidFill>
              </a:defRPr>
            </a:pPr>
            <a:r>
              <a:rPr sz="2550" b="1">
                <a:solidFill>
                  <a:srgbClr val="102B3B"/>
                </a:solidFill>
              </a:rPr>
              <a:t>Help users identify products</a:t>
            </a:r>
          </a:p>
          <a:p>
            <a:pPr>
              <a:defRPr sz="2550" b="1">
                <a:solidFill>
                  <a:srgbClr val="102B3B"/>
                </a:solidFill>
              </a:defRPr>
            </a:pPr>
            <a:r>
              <a:rPr sz="2550" b="1">
                <a:solidFill>
                  <a:srgbClr val="102B3B"/>
                </a:solidFill>
              </a:rPr>
              <a:t>from uploaded photographs.</a:t>
            </a:r>
          </a:p>
        </p:txBody>
      </p:sp>
      <p:sp>
        <p:nvSpPr>
          <p:cNvPr id="9" name="Rectangle 8">
            <a:extLst>
              <a:ext uri="{FF2B5EF4-FFF2-40B4-BE49-F238E27FC236}">
                <a16:creationId xmlns:a16="http://schemas.microsoft.com/office/drawing/2014/main" id="{5B349582-4389-4954-8EEB-F4AE6FD6A459}"/>
              </a:ext>
            </a:extLst>
          </p:cNvPr>
          <p:cNvSpPr>
            <a:spLocks noGrp="1"/>
          </p:cNvSpPr>
          <p:nvPr/>
        </p:nvSpPr>
        <p:spPr>
          <a:xfrm>
            <a:off x="4953000" y="3381375"/>
            <a:ext cx="6477000" cy="857250"/>
          </a:xfrm>
          <a:prstGeom prst="rect">
            <a:avLst/>
          </a:prstGeom>
          <a:noFill/>
          <a:ln w="0">
            <a:noFill/>
          </a:ln>
        </p:spPr>
        <p:txBody>
          <a:bodyPr/>
          <a:lstStyle/>
          <a:p>
            <a:pPr>
              <a:defRPr sz="2100" b="0">
                <a:solidFill>
                  <a:srgbClr val="526C75"/>
                </a:solidFill>
              </a:defRPr>
            </a:pPr>
            <a:r>
              <a:rPr sz="2100" b="0">
                <a:solidFill>
                  <a:srgbClr val="526C75"/>
                </a:solidFill>
              </a:rPr>
              <a:t>Predict the general type rather than</a:t>
            </a:r>
          </a:p>
          <a:p>
            <a:pPr>
              <a:defRPr sz="2100" b="0">
                <a:solidFill>
                  <a:srgbClr val="526C75"/>
                </a:solidFill>
              </a:defRPr>
            </a:pPr>
            <a:r>
              <a:rPr sz="2100" b="0">
                <a:solidFill>
                  <a:srgbClr val="526C75"/>
                </a:solidFill>
              </a:rPr>
              <a:t>distinguishing individual varieties.</a:t>
            </a:r>
          </a:p>
        </p:txBody>
      </p:sp>
      <p:sp>
        <p:nvSpPr>
          <p:cNvPr id="10" name="Rectangle 9">
            <a:extLst>
              <a:ext uri="{FF2B5EF4-FFF2-40B4-BE49-F238E27FC236}">
                <a16:creationId xmlns:a16="http://schemas.microsoft.com/office/drawing/2014/main" id="{3F2E97FD-9804-4114-92C7-3926B9A8438C}"/>
              </a:ext>
            </a:extLst>
          </p:cNvPr>
          <p:cNvSpPr>
            <a:spLocks noGrp="1"/>
          </p:cNvSpPr>
          <p:nvPr/>
        </p:nvSpPr>
        <p:spPr>
          <a:xfrm>
            <a:off x="4953000" y="4667250"/>
            <a:ext cx="6477000" cy="714375"/>
          </a:xfrm>
          <a:prstGeom prst="rect">
            <a:avLst/>
          </a:prstGeom>
          <a:noFill/>
          <a:ln w="0">
            <a:noFill/>
          </a:ln>
        </p:spPr>
        <p:txBody>
          <a:bodyPr/>
          <a:lstStyle/>
          <a:p>
            <a:pPr>
              <a:defRPr sz="2100" b="1">
                <a:solidFill>
                  <a:srgbClr val="137C62"/>
                </a:solidFill>
              </a:defRPr>
            </a:pPr>
            <a:r>
              <a:rPr sz="2100" b="1">
                <a:solidFill>
                  <a:srgbClr val="137C62"/>
                </a:solidFill>
              </a:rPr>
              <a:t>Return a category and the top three scores.</a:t>
            </a:r>
          </a:p>
        </p:txBody>
      </p:sp>
      <p:sp>
        <p:nvSpPr>
          <p:cNvPr id="11" name="Rectangle 10">
            <a:extLst>
              <a:ext uri="{FF2B5EF4-FFF2-40B4-BE49-F238E27FC236}">
                <a16:creationId xmlns:a16="http://schemas.microsoft.com/office/drawing/2014/main" id="{879075B7-4B8A-4257-8567-B5C60C5D345D}"/>
              </a:ext>
            </a:extLst>
          </p:cNvPr>
          <p:cNvSpPr>
            <a:spLocks noGrp="1"/>
          </p:cNvSpPr>
          <p:nvPr/>
        </p:nvSpPr>
        <p:spPr>
          <a:xfrm>
            <a:off x="609600" y="5638800"/>
            <a:ext cx="10972800" cy="409575"/>
          </a:xfrm>
          <a:prstGeom prst="rect">
            <a:avLst/>
          </a:prstGeom>
          <a:noFill/>
          <a:ln w="0">
            <a:noFill/>
          </a:ln>
        </p:spPr>
        <p:txBody>
          <a:bodyPr/>
          <a:lstStyle/>
          <a:p>
            <a:pPr>
              <a:defRPr sz="1650" b="0">
                <a:solidFill>
                  <a:srgbClr val="526C75"/>
                </a:solidFill>
              </a:defRPr>
            </a:pPr>
            <a:r>
              <a:rPr sz="1650" b="0">
                <a:solidFill>
                  <a:srgbClr val="526C75"/>
                </a:solidFill>
              </a:rPr>
              <a:t>Scope: classification, without object detection or counting.</a:t>
            </a:r>
          </a:p>
        </p:txBody>
      </p:sp>
    </p:spTree>
    <p:extLst>
      <p:ext uri="{BB962C8B-B14F-4D97-AF65-F5344CB8AC3E}">
        <p14:creationId xmlns:p14="http://schemas.microsoft.com/office/powerpoint/2010/main" val="7958633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24" name="Rectangle 23">
            <a:extLst>
              <a:ext uri="{FF2B5EF4-FFF2-40B4-BE49-F238E27FC236}">
                <a16:creationId xmlns:a16="http://schemas.microsoft.com/office/drawing/2014/main" id="{0099B802-3BC5-40EA-8FD8-3F0A0E2A8B88}"/>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02 / DATASET AUDIT</a:t>
            </a:r>
          </a:p>
        </p:txBody>
      </p:sp>
      <p:sp>
        <p:nvSpPr>
          <p:cNvPr id="2" name="Rectangle 1">
            <a:extLst>
              <a:ext uri="{FF2B5EF4-FFF2-40B4-BE49-F238E27FC236}">
                <a16:creationId xmlns:a16="http://schemas.microsoft.com/office/drawing/2014/main" id="{997338F4-A374-4CCB-955F-8EA70648EC34}"/>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Five sources, different contributions</a:t>
            </a:r>
          </a:p>
        </p:txBody>
      </p:sp>
      <p:sp>
        <p:nvSpPr>
          <p:cNvPr id="3" name="Rectangle 2">
            <a:extLst>
              <a:ext uri="{FF2B5EF4-FFF2-40B4-BE49-F238E27FC236}">
                <a16:creationId xmlns:a16="http://schemas.microsoft.com/office/drawing/2014/main" id="{73969801-FBE3-432C-87FF-5DE2280C3E59}"/>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ED7DA214-D4AD-46F8-BB91-7C46AAF0DE3E}"/>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03</a:t>
            </a:r>
          </a:p>
        </p:txBody>
      </p:sp>
      <p:sp>
        <p:nvSpPr>
          <p:cNvPr id="5" name="Rectangle 4">
            <a:extLst>
              <a:ext uri="{FF2B5EF4-FFF2-40B4-BE49-F238E27FC236}">
                <a16:creationId xmlns:a16="http://schemas.microsoft.com/office/drawing/2014/main" id="{A4396547-D6AB-4DEB-9D23-5B1F75E6F6BA}"/>
              </a:ext>
            </a:extLst>
          </p:cNvPr>
          <p:cNvSpPr>
            <a:spLocks noGrp="1"/>
          </p:cNvSpPr>
          <p:nvPr/>
        </p:nvSpPr>
        <p:spPr>
          <a:xfrm>
            <a:off x="609600" y="1809750"/>
            <a:ext cx="4229100" cy="533400"/>
          </a:xfrm>
          <a:prstGeom prst="rect">
            <a:avLst/>
          </a:prstGeom>
          <a:noFill/>
          <a:ln w="0">
            <a:noFill/>
          </a:ln>
        </p:spPr>
        <p:txBody>
          <a:bodyPr/>
          <a:lstStyle/>
          <a:p>
            <a:pPr>
              <a:defRPr sz="1800" b="1">
                <a:solidFill>
                  <a:srgbClr val="137C62"/>
                </a:solidFill>
              </a:defRPr>
            </a:pPr>
            <a:r>
              <a:rPr sz="1800" b="1">
                <a:solidFill>
                  <a:srgbClr val="137C62"/>
                </a:solidFill>
              </a:rPr>
              <a:t>Source</a:t>
            </a:r>
          </a:p>
        </p:txBody>
      </p:sp>
      <p:sp>
        <p:nvSpPr>
          <p:cNvPr id="6" name="Rectangle 5">
            <a:extLst>
              <a:ext uri="{FF2B5EF4-FFF2-40B4-BE49-F238E27FC236}">
                <a16:creationId xmlns:a16="http://schemas.microsoft.com/office/drawing/2014/main" id="{B960DB6D-78F5-41C7-9AFE-32B87F9269A5}"/>
              </a:ext>
            </a:extLst>
          </p:cNvPr>
          <p:cNvSpPr>
            <a:spLocks noGrp="1"/>
          </p:cNvSpPr>
          <p:nvPr/>
        </p:nvSpPr>
        <p:spPr>
          <a:xfrm>
            <a:off x="4991100" y="1809750"/>
            <a:ext cx="1943100" cy="533400"/>
          </a:xfrm>
          <a:prstGeom prst="rect">
            <a:avLst/>
          </a:prstGeom>
          <a:noFill/>
          <a:ln w="0">
            <a:noFill/>
          </a:ln>
        </p:spPr>
        <p:txBody>
          <a:bodyPr/>
          <a:lstStyle/>
          <a:p>
            <a:pPr>
              <a:defRPr sz="1800" b="1">
                <a:solidFill>
                  <a:srgbClr val="137C62"/>
                </a:solidFill>
              </a:defRPr>
            </a:pPr>
            <a:r>
              <a:rPr sz="1800" b="1">
                <a:solidFill>
                  <a:srgbClr val="137C62"/>
                </a:solidFill>
              </a:rPr>
              <a:t>Image files</a:t>
            </a:r>
          </a:p>
        </p:txBody>
      </p:sp>
      <p:sp>
        <p:nvSpPr>
          <p:cNvPr id="7" name="Rectangle 6">
            <a:extLst>
              <a:ext uri="{FF2B5EF4-FFF2-40B4-BE49-F238E27FC236}">
                <a16:creationId xmlns:a16="http://schemas.microsoft.com/office/drawing/2014/main" id="{B6C222B4-90E6-485B-A961-32201235E960}"/>
              </a:ext>
            </a:extLst>
          </p:cNvPr>
          <p:cNvSpPr>
            <a:spLocks noGrp="1"/>
          </p:cNvSpPr>
          <p:nvPr/>
        </p:nvSpPr>
        <p:spPr>
          <a:xfrm>
            <a:off x="7086600" y="1809750"/>
            <a:ext cx="4343400" cy="533400"/>
          </a:xfrm>
          <a:prstGeom prst="rect">
            <a:avLst/>
          </a:prstGeom>
          <a:noFill/>
          <a:ln w="0">
            <a:noFill/>
          </a:ln>
        </p:spPr>
        <p:txBody>
          <a:bodyPr/>
          <a:lstStyle/>
          <a:p>
            <a:pPr>
              <a:defRPr sz="1800" b="1">
                <a:solidFill>
                  <a:srgbClr val="137C62"/>
                </a:solidFill>
              </a:defRPr>
            </a:pPr>
            <a:r>
              <a:rPr sz="1800" b="1">
                <a:solidFill>
                  <a:srgbClr val="137C62"/>
                </a:solidFill>
              </a:rPr>
              <a:t>Contribution</a:t>
            </a:r>
          </a:p>
        </p:txBody>
      </p:sp>
      <p:sp>
        <p:nvSpPr>
          <p:cNvPr id="8" name="Rectangle 7">
            <a:extLst>
              <a:ext uri="{FF2B5EF4-FFF2-40B4-BE49-F238E27FC236}">
                <a16:creationId xmlns:a16="http://schemas.microsoft.com/office/drawing/2014/main" id="{B8826B01-2D04-45FE-BDC0-A42B85C8E12D}"/>
              </a:ext>
            </a:extLst>
          </p:cNvPr>
          <p:cNvSpPr>
            <a:spLocks noGrp="1"/>
          </p:cNvSpPr>
          <p:nvPr/>
        </p:nvSpPr>
        <p:spPr>
          <a:xfrm>
            <a:off x="609600" y="2400300"/>
            <a:ext cx="4229100" cy="533400"/>
          </a:xfrm>
          <a:prstGeom prst="rect">
            <a:avLst/>
          </a:prstGeom>
          <a:noFill/>
          <a:ln w="0">
            <a:noFill/>
          </a:ln>
        </p:spPr>
        <p:txBody>
          <a:bodyPr/>
          <a:lstStyle/>
          <a:p>
            <a:pPr>
              <a:defRPr sz="1875" b="0">
                <a:solidFill>
                  <a:srgbClr val="102B3B"/>
                </a:solidFill>
              </a:defRPr>
            </a:pPr>
            <a:r>
              <a:rPr sz="1875" b="0">
                <a:solidFill>
                  <a:srgbClr val="102B3B"/>
                </a:solidFill>
              </a:rPr>
              <a:t>100×100</a:t>
            </a:r>
          </a:p>
        </p:txBody>
      </p:sp>
      <p:sp>
        <p:nvSpPr>
          <p:cNvPr id="9" name="Rectangle 8">
            <a:extLst>
              <a:ext uri="{FF2B5EF4-FFF2-40B4-BE49-F238E27FC236}">
                <a16:creationId xmlns:a16="http://schemas.microsoft.com/office/drawing/2014/main" id="{995A7E05-D46E-461A-A876-0AB09031DE61}"/>
              </a:ext>
            </a:extLst>
          </p:cNvPr>
          <p:cNvSpPr>
            <a:spLocks noGrp="1"/>
          </p:cNvSpPr>
          <p:nvPr/>
        </p:nvSpPr>
        <p:spPr>
          <a:xfrm>
            <a:off x="4991100" y="2400300"/>
            <a:ext cx="1943100" cy="533400"/>
          </a:xfrm>
          <a:prstGeom prst="rect">
            <a:avLst/>
          </a:prstGeom>
          <a:noFill/>
          <a:ln w="0">
            <a:noFill/>
          </a:ln>
        </p:spPr>
        <p:txBody>
          <a:bodyPr/>
          <a:lstStyle/>
          <a:p>
            <a:pPr>
              <a:defRPr sz="1875" b="0">
                <a:solidFill>
                  <a:srgbClr val="102B3B"/>
                </a:solidFill>
              </a:defRPr>
            </a:pPr>
            <a:r>
              <a:rPr sz="1875" b="0">
                <a:solidFill>
                  <a:srgbClr val="102B3B"/>
                </a:solidFill>
              </a:rPr>
              <a:t>184,838</a:t>
            </a:r>
          </a:p>
        </p:txBody>
      </p:sp>
      <p:sp>
        <p:nvSpPr>
          <p:cNvPr id="10" name="Rectangle 9">
            <a:extLst>
              <a:ext uri="{FF2B5EF4-FFF2-40B4-BE49-F238E27FC236}">
                <a16:creationId xmlns:a16="http://schemas.microsoft.com/office/drawing/2014/main" id="{422D4516-175C-4679-A367-F1D2BDBF9262}"/>
              </a:ext>
            </a:extLst>
          </p:cNvPr>
          <p:cNvSpPr>
            <a:spLocks noGrp="1"/>
          </p:cNvSpPr>
          <p:nvPr/>
        </p:nvSpPr>
        <p:spPr>
          <a:xfrm>
            <a:off x="7086600" y="2400300"/>
            <a:ext cx="4343400" cy="533400"/>
          </a:xfrm>
          <a:prstGeom prst="rect">
            <a:avLst/>
          </a:prstGeom>
          <a:noFill/>
          <a:ln w="0">
            <a:noFill/>
          </a:ln>
        </p:spPr>
        <p:txBody>
          <a:bodyPr/>
          <a:lstStyle/>
          <a:p>
            <a:pPr>
              <a:defRPr sz="1875" b="0">
                <a:solidFill>
                  <a:srgbClr val="102B3B"/>
                </a:solidFill>
              </a:defRPr>
            </a:pPr>
            <a:r>
              <a:rPr sz="1875" b="0">
                <a:solidFill>
                  <a:srgbClr val="102B3B"/>
                </a:solidFill>
              </a:rPr>
              <a:t>Controlled images</a:t>
            </a:r>
          </a:p>
        </p:txBody>
      </p:sp>
      <p:sp>
        <p:nvSpPr>
          <p:cNvPr id="11" name="Rectangle 10">
            <a:extLst>
              <a:ext uri="{FF2B5EF4-FFF2-40B4-BE49-F238E27FC236}">
                <a16:creationId xmlns:a16="http://schemas.microsoft.com/office/drawing/2014/main" id="{D0291345-0D47-4401-8ABB-0E0C2F0B5CAC}"/>
              </a:ext>
            </a:extLst>
          </p:cNvPr>
          <p:cNvSpPr>
            <a:spLocks noGrp="1"/>
          </p:cNvSpPr>
          <p:nvPr/>
        </p:nvSpPr>
        <p:spPr>
          <a:xfrm>
            <a:off x="609600" y="2990850"/>
            <a:ext cx="4229100" cy="533400"/>
          </a:xfrm>
          <a:prstGeom prst="rect">
            <a:avLst/>
          </a:prstGeom>
          <a:noFill/>
          <a:ln w="0">
            <a:noFill/>
          </a:ln>
        </p:spPr>
        <p:txBody>
          <a:bodyPr/>
          <a:lstStyle/>
          <a:p>
            <a:pPr>
              <a:defRPr sz="1875" b="0">
                <a:solidFill>
                  <a:srgbClr val="102B3B"/>
                </a:solidFill>
              </a:defRPr>
            </a:pPr>
            <a:r>
              <a:rPr sz="1875" b="0">
                <a:solidFill>
                  <a:srgbClr val="102B3B"/>
                </a:solidFill>
              </a:rPr>
              <a:t>Original Size</a:t>
            </a:r>
          </a:p>
        </p:txBody>
      </p:sp>
      <p:sp>
        <p:nvSpPr>
          <p:cNvPr id="12" name="Rectangle 11">
            <a:extLst>
              <a:ext uri="{FF2B5EF4-FFF2-40B4-BE49-F238E27FC236}">
                <a16:creationId xmlns:a16="http://schemas.microsoft.com/office/drawing/2014/main" id="{99BF6F99-4D75-4AF7-98E9-E009909FA3A6}"/>
              </a:ext>
            </a:extLst>
          </p:cNvPr>
          <p:cNvSpPr>
            <a:spLocks noGrp="1"/>
          </p:cNvSpPr>
          <p:nvPr/>
        </p:nvSpPr>
        <p:spPr>
          <a:xfrm>
            <a:off x="4991100" y="2990850"/>
            <a:ext cx="1943100" cy="533400"/>
          </a:xfrm>
          <a:prstGeom prst="rect">
            <a:avLst/>
          </a:prstGeom>
          <a:noFill/>
          <a:ln w="0">
            <a:noFill/>
          </a:ln>
        </p:spPr>
        <p:txBody>
          <a:bodyPr/>
          <a:lstStyle/>
          <a:p>
            <a:pPr>
              <a:defRPr sz="1875" b="0">
                <a:solidFill>
                  <a:srgbClr val="102B3B"/>
                </a:solidFill>
              </a:defRPr>
            </a:pPr>
            <a:r>
              <a:rPr sz="1875" b="0">
                <a:solidFill>
                  <a:srgbClr val="102B3B"/>
                </a:solidFill>
              </a:rPr>
              <a:t>104,444</a:t>
            </a:r>
          </a:p>
        </p:txBody>
      </p:sp>
      <p:sp>
        <p:nvSpPr>
          <p:cNvPr id="13" name="Rectangle 12">
            <a:extLst>
              <a:ext uri="{FF2B5EF4-FFF2-40B4-BE49-F238E27FC236}">
                <a16:creationId xmlns:a16="http://schemas.microsoft.com/office/drawing/2014/main" id="{7D18A77A-B6F7-402B-A695-7DC2DBEBC7F3}"/>
              </a:ext>
            </a:extLst>
          </p:cNvPr>
          <p:cNvSpPr>
            <a:spLocks noGrp="1"/>
          </p:cNvSpPr>
          <p:nvPr/>
        </p:nvSpPr>
        <p:spPr>
          <a:xfrm>
            <a:off x="7086600" y="2990850"/>
            <a:ext cx="4343400" cy="533400"/>
          </a:xfrm>
          <a:prstGeom prst="rect">
            <a:avLst/>
          </a:prstGeom>
          <a:noFill/>
          <a:ln w="0">
            <a:noFill/>
          </a:ln>
        </p:spPr>
        <p:txBody>
          <a:bodyPr/>
          <a:lstStyle/>
          <a:p>
            <a:pPr>
              <a:defRPr sz="1875" b="0">
                <a:solidFill>
                  <a:srgbClr val="102B3B"/>
                </a:solidFill>
              </a:defRPr>
            </a:pPr>
            <a:r>
              <a:rPr sz="1875" b="0">
                <a:solidFill>
                  <a:srgbClr val="102B3B"/>
                </a:solidFill>
              </a:rPr>
              <a:t>Controlled images</a:t>
            </a:r>
          </a:p>
        </p:txBody>
      </p:sp>
      <p:sp>
        <p:nvSpPr>
          <p:cNvPr id="14" name="Rectangle 13">
            <a:extLst>
              <a:ext uri="{FF2B5EF4-FFF2-40B4-BE49-F238E27FC236}">
                <a16:creationId xmlns:a16="http://schemas.microsoft.com/office/drawing/2014/main" id="{7C0F7AAE-7535-4351-854C-90537E401463}"/>
              </a:ext>
            </a:extLst>
          </p:cNvPr>
          <p:cNvSpPr>
            <a:spLocks noGrp="1"/>
          </p:cNvSpPr>
          <p:nvPr/>
        </p:nvSpPr>
        <p:spPr>
          <a:xfrm>
            <a:off x="609600" y="3581400"/>
            <a:ext cx="4229100" cy="533400"/>
          </a:xfrm>
          <a:prstGeom prst="rect">
            <a:avLst/>
          </a:prstGeom>
          <a:noFill/>
          <a:ln w="0">
            <a:noFill/>
          </a:ln>
        </p:spPr>
        <p:txBody>
          <a:bodyPr/>
          <a:lstStyle/>
          <a:p>
            <a:pPr>
              <a:defRPr sz="1875" b="0">
                <a:solidFill>
                  <a:srgbClr val="102B3B"/>
                </a:solidFill>
              </a:defRPr>
            </a:pPr>
            <a:r>
              <a:rPr sz="1875" b="0">
                <a:solidFill>
                  <a:srgbClr val="102B3B"/>
                </a:solidFill>
              </a:rPr>
              <a:t>3-Body Problem</a:t>
            </a:r>
          </a:p>
        </p:txBody>
      </p:sp>
      <p:sp>
        <p:nvSpPr>
          <p:cNvPr id="15" name="Rectangle 14">
            <a:extLst>
              <a:ext uri="{FF2B5EF4-FFF2-40B4-BE49-F238E27FC236}">
                <a16:creationId xmlns:a16="http://schemas.microsoft.com/office/drawing/2014/main" id="{4783449F-82B7-4752-AC06-00156A52F6C8}"/>
              </a:ext>
            </a:extLst>
          </p:cNvPr>
          <p:cNvSpPr>
            <a:spLocks noGrp="1"/>
          </p:cNvSpPr>
          <p:nvPr/>
        </p:nvSpPr>
        <p:spPr>
          <a:xfrm>
            <a:off x="4991100" y="3581400"/>
            <a:ext cx="1943100" cy="533400"/>
          </a:xfrm>
          <a:prstGeom prst="rect">
            <a:avLst/>
          </a:prstGeom>
          <a:noFill/>
          <a:ln w="0">
            <a:noFill/>
          </a:ln>
        </p:spPr>
        <p:txBody>
          <a:bodyPr/>
          <a:lstStyle/>
          <a:p>
            <a:pPr>
              <a:defRPr sz="1875" b="0">
                <a:solidFill>
                  <a:srgbClr val="102B3B"/>
                </a:solidFill>
              </a:defRPr>
            </a:pPr>
            <a:r>
              <a:rPr sz="1875" b="0">
                <a:solidFill>
                  <a:srgbClr val="102B3B"/>
                </a:solidFill>
              </a:rPr>
              <a:t>49,236</a:t>
            </a:r>
          </a:p>
        </p:txBody>
      </p:sp>
      <p:sp>
        <p:nvSpPr>
          <p:cNvPr id="16" name="Rectangle 15">
            <a:extLst>
              <a:ext uri="{FF2B5EF4-FFF2-40B4-BE49-F238E27FC236}">
                <a16:creationId xmlns:a16="http://schemas.microsoft.com/office/drawing/2014/main" id="{120B333D-957D-4790-8DFB-237AB5EA7E76}"/>
              </a:ext>
            </a:extLst>
          </p:cNvPr>
          <p:cNvSpPr>
            <a:spLocks noGrp="1"/>
          </p:cNvSpPr>
          <p:nvPr/>
        </p:nvSpPr>
        <p:spPr>
          <a:xfrm>
            <a:off x="7086600" y="3581400"/>
            <a:ext cx="4343400" cy="533400"/>
          </a:xfrm>
          <a:prstGeom prst="rect">
            <a:avLst/>
          </a:prstGeom>
          <a:noFill/>
          <a:ln w="0">
            <a:noFill/>
          </a:ln>
        </p:spPr>
        <p:txBody>
          <a:bodyPr/>
          <a:lstStyle/>
          <a:p>
            <a:pPr>
              <a:defRPr sz="1875" b="0">
                <a:solidFill>
                  <a:srgbClr val="102B3B"/>
                </a:solidFill>
              </a:defRPr>
            </a:pPr>
            <a:r>
              <a:rPr sz="1875" b="0">
                <a:solidFill>
                  <a:srgbClr val="102B3B"/>
                </a:solidFill>
              </a:rPr>
              <a:t>Duplicates of 100×100</a:t>
            </a:r>
          </a:p>
        </p:txBody>
      </p:sp>
      <p:sp>
        <p:nvSpPr>
          <p:cNvPr id="17" name="Rectangle 16">
            <a:extLst>
              <a:ext uri="{FF2B5EF4-FFF2-40B4-BE49-F238E27FC236}">
                <a16:creationId xmlns:a16="http://schemas.microsoft.com/office/drawing/2014/main" id="{1DAA7DE6-5D73-4526-9C66-197FED533DA1}"/>
              </a:ext>
            </a:extLst>
          </p:cNvPr>
          <p:cNvSpPr>
            <a:spLocks noGrp="1"/>
          </p:cNvSpPr>
          <p:nvPr/>
        </p:nvSpPr>
        <p:spPr>
          <a:xfrm>
            <a:off x="609600" y="4171950"/>
            <a:ext cx="4229100" cy="533400"/>
          </a:xfrm>
          <a:prstGeom prst="rect">
            <a:avLst/>
          </a:prstGeom>
          <a:noFill/>
          <a:ln w="0">
            <a:noFill/>
          </a:ln>
        </p:spPr>
        <p:txBody>
          <a:bodyPr/>
          <a:lstStyle/>
          <a:p>
            <a:pPr>
              <a:defRPr sz="1875" b="0">
                <a:solidFill>
                  <a:srgbClr val="102B3B"/>
                </a:solidFill>
              </a:defRPr>
            </a:pPr>
            <a:r>
              <a:rPr sz="1875" b="0">
                <a:solidFill>
                  <a:srgbClr val="102B3B"/>
                </a:solidFill>
              </a:rPr>
              <a:t>Multi</a:t>
            </a:r>
          </a:p>
        </p:txBody>
      </p:sp>
      <p:sp>
        <p:nvSpPr>
          <p:cNvPr id="18" name="Rectangle 17">
            <a:extLst>
              <a:ext uri="{FF2B5EF4-FFF2-40B4-BE49-F238E27FC236}">
                <a16:creationId xmlns:a16="http://schemas.microsoft.com/office/drawing/2014/main" id="{4F49B6AB-AFF7-4B6B-AEA3-F4616F03353B}"/>
              </a:ext>
            </a:extLst>
          </p:cNvPr>
          <p:cNvSpPr>
            <a:spLocks noGrp="1"/>
          </p:cNvSpPr>
          <p:nvPr/>
        </p:nvSpPr>
        <p:spPr>
          <a:xfrm>
            <a:off x="4991100" y="4171950"/>
            <a:ext cx="1943100" cy="533400"/>
          </a:xfrm>
          <a:prstGeom prst="rect">
            <a:avLst/>
          </a:prstGeom>
          <a:noFill/>
          <a:ln w="0">
            <a:noFill/>
          </a:ln>
        </p:spPr>
        <p:txBody>
          <a:bodyPr/>
          <a:lstStyle/>
          <a:p>
            <a:pPr>
              <a:defRPr sz="1875" b="0">
                <a:solidFill>
                  <a:srgbClr val="102B3B"/>
                </a:solidFill>
              </a:defRPr>
            </a:pPr>
            <a:r>
              <a:rPr sz="1875" b="0">
                <a:solidFill>
                  <a:srgbClr val="102B3B"/>
                </a:solidFill>
              </a:rPr>
              <a:t>756</a:t>
            </a:r>
          </a:p>
        </p:txBody>
      </p:sp>
      <p:sp>
        <p:nvSpPr>
          <p:cNvPr id="19" name="Rectangle 18">
            <a:extLst>
              <a:ext uri="{FF2B5EF4-FFF2-40B4-BE49-F238E27FC236}">
                <a16:creationId xmlns:a16="http://schemas.microsoft.com/office/drawing/2014/main" id="{64F3D692-156D-45A4-86EC-2E054923450F}"/>
              </a:ext>
            </a:extLst>
          </p:cNvPr>
          <p:cNvSpPr>
            <a:spLocks noGrp="1"/>
          </p:cNvSpPr>
          <p:nvPr/>
        </p:nvSpPr>
        <p:spPr>
          <a:xfrm>
            <a:off x="7086600" y="4171950"/>
            <a:ext cx="4343400" cy="533400"/>
          </a:xfrm>
          <a:prstGeom prst="rect">
            <a:avLst/>
          </a:prstGeom>
          <a:noFill/>
          <a:ln w="0">
            <a:noFill/>
          </a:ln>
        </p:spPr>
        <p:txBody>
          <a:bodyPr/>
          <a:lstStyle/>
          <a:p>
            <a:pPr>
              <a:defRPr sz="1875" b="0">
                <a:solidFill>
                  <a:srgbClr val="102B3B"/>
                </a:solidFill>
              </a:defRPr>
            </a:pPr>
            <a:r>
              <a:rPr sz="1875" b="0">
                <a:solidFill>
                  <a:srgbClr val="102B3B"/>
                </a:solidFill>
              </a:rPr>
              <a:t>Natural photos to review</a:t>
            </a:r>
          </a:p>
        </p:txBody>
      </p:sp>
      <p:sp>
        <p:nvSpPr>
          <p:cNvPr id="20" name="Rectangle 19">
            <a:extLst>
              <a:ext uri="{FF2B5EF4-FFF2-40B4-BE49-F238E27FC236}">
                <a16:creationId xmlns:a16="http://schemas.microsoft.com/office/drawing/2014/main" id="{CA973E9F-8FD9-4F4B-AC2A-CA5BAF4604AB}"/>
              </a:ext>
            </a:extLst>
          </p:cNvPr>
          <p:cNvSpPr>
            <a:spLocks noGrp="1"/>
          </p:cNvSpPr>
          <p:nvPr/>
        </p:nvSpPr>
        <p:spPr>
          <a:xfrm>
            <a:off x="609600" y="4762500"/>
            <a:ext cx="4229100" cy="533400"/>
          </a:xfrm>
          <a:prstGeom prst="rect">
            <a:avLst/>
          </a:prstGeom>
          <a:noFill/>
          <a:ln w="0">
            <a:noFill/>
          </a:ln>
        </p:spPr>
        <p:txBody>
          <a:bodyPr/>
          <a:lstStyle/>
          <a:p>
            <a:pPr>
              <a:defRPr sz="1875" b="0">
                <a:solidFill>
                  <a:srgbClr val="102B3B"/>
                </a:solidFill>
              </a:defRPr>
            </a:pPr>
            <a:r>
              <a:rPr sz="1875" b="0">
                <a:solidFill>
                  <a:srgbClr val="102B3B"/>
                </a:solidFill>
              </a:rPr>
              <a:t>Meta</a:t>
            </a:r>
          </a:p>
        </p:txBody>
      </p:sp>
      <p:sp>
        <p:nvSpPr>
          <p:cNvPr id="21" name="Rectangle 20">
            <a:extLst>
              <a:ext uri="{FF2B5EF4-FFF2-40B4-BE49-F238E27FC236}">
                <a16:creationId xmlns:a16="http://schemas.microsoft.com/office/drawing/2014/main" id="{DADBCE18-6AA1-4245-AFCE-FB941F04B94F}"/>
              </a:ext>
            </a:extLst>
          </p:cNvPr>
          <p:cNvSpPr>
            <a:spLocks noGrp="1"/>
          </p:cNvSpPr>
          <p:nvPr/>
        </p:nvSpPr>
        <p:spPr>
          <a:xfrm>
            <a:off x="4991100" y="4762500"/>
            <a:ext cx="1943100" cy="533400"/>
          </a:xfrm>
          <a:prstGeom prst="rect">
            <a:avLst/>
          </a:prstGeom>
          <a:noFill/>
          <a:ln w="0">
            <a:noFill/>
          </a:ln>
        </p:spPr>
        <p:txBody>
          <a:bodyPr/>
          <a:lstStyle/>
          <a:p>
            <a:pPr>
              <a:defRPr sz="1875" b="0">
                <a:solidFill>
                  <a:srgbClr val="102B3B"/>
                </a:solidFill>
              </a:defRPr>
            </a:pPr>
            <a:r>
              <a:rPr sz="1875" b="0">
                <a:solidFill>
                  <a:srgbClr val="102B3B"/>
                </a:solidFill>
              </a:rPr>
              <a:t>0</a:t>
            </a:r>
          </a:p>
        </p:txBody>
      </p:sp>
      <p:sp>
        <p:nvSpPr>
          <p:cNvPr id="22" name="Rectangle 21">
            <a:extLst>
              <a:ext uri="{FF2B5EF4-FFF2-40B4-BE49-F238E27FC236}">
                <a16:creationId xmlns:a16="http://schemas.microsoft.com/office/drawing/2014/main" id="{94CEF912-B2FF-4B1F-9B37-202FE3847624}"/>
              </a:ext>
            </a:extLst>
          </p:cNvPr>
          <p:cNvSpPr>
            <a:spLocks noGrp="1"/>
          </p:cNvSpPr>
          <p:nvPr/>
        </p:nvSpPr>
        <p:spPr>
          <a:xfrm>
            <a:off x="7086600" y="4762500"/>
            <a:ext cx="4343400" cy="533400"/>
          </a:xfrm>
          <a:prstGeom prst="rect">
            <a:avLst/>
          </a:prstGeom>
          <a:noFill/>
          <a:ln w="0">
            <a:noFill/>
          </a:ln>
        </p:spPr>
        <p:txBody>
          <a:bodyPr/>
          <a:lstStyle/>
          <a:p>
            <a:pPr>
              <a:defRPr sz="1875" b="0">
                <a:solidFill>
                  <a:srgbClr val="102B3B"/>
                </a:solidFill>
              </a:defRPr>
            </a:pPr>
            <a:r>
              <a:rPr sz="1875" b="0">
                <a:solidFill>
                  <a:srgbClr val="102B3B"/>
                </a:solidFill>
              </a:rPr>
              <a:t>Reference information</a:t>
            </a:r>
          </a:p>
        </p:txBody>
      </p:sp>
      <p:sp>
        <p:nvSpPr>
          <p:cNvPr id="23" name="Rectangle 22">
            <a:extLst>
              <a:ext uri="{FF2B5EF4-FFF2-40B4-BE49-F238E27FC236}">
                <a16:creationId xmlns:a16="http://schemas.microsoft.com/office/drawing/2014/main" id="{FD5CD4C6-EE42-4172-AFA5-82404CE5B9BF}"/>
              </a:ext>
            </a:extLst>
          </p:cNvPr>
          <p:cNvSpPr>
            <a:spLocks noGrp="1"/>
          </p:cNvSpPr>
          <p:nvPr/>
        </p:nvSpPr>
        <p:spPr>
          <a:xfrm>
            <a:off x="609600" y="5600700"/>
            <a:ext cx="10972800" cy="400050"/>
          </a:xfrm>
          <a:prstGeom prst="rect">
            <a:avLst/>
          </a:prstGeom>
          <a:noFill/>
          <a:ln w="0">
            <a:noFill/>
          </a:ln>
        </p:spPr>
        <p:txBody>
          <a:bodyPr/>
          <a:lstStyle/>
          <a:p>
            <a:pPr>
              <a:defRPr sz="1875" b="1">
                <a:solidFill>
                  <a:srgbClr val="137C62"/>
                </a:solidFill>
              </a:defRPr>
            </a:pPr>
            <a:r>
              <a:rPr sz="1875" b="1">
                <a:solidFill>
                  <a:srgbClr val="137C62"/>
                </a:solidFill>
              </a:rPr>
              <a:t>File counts are not independent training examples.</a:t>
            </a:r>
          </a:p>
        </p:txBody>
      </p:sp>
    </p:spTree>
    <p:extLst>
      <p:ext uri="{BB962C8B-B14F-4D97-AF65-F5344CB8AC3E}">
        <p14:creationId xmlns:p14="http://schemas.microsoft.com/office/powerpoint/2010/main" val="6658111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7DEA9131-0048-4E62-A037-1F0595686047}"/>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03 / DATA PREPARATION</a:t>
            </a:r>
          </a:p>
        </p:txBody>
      </p:sp>
      <p:sp>
        <p:nvSpPr>
          <p:cNvPr id="2" name="Rectangle 1">
            <a:extLst>
              <a:ext uri="{FF2B5EF4-FFF2-40B4-BE49-F238E27FC236}">
                <a16:creationId xmlns:a16="http://schemas.microsoft.com/office/drawing/2014/main" id="{47F5E349-33EB-4205-A632-80B3E1E3A1E9}"/>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Consistent inputs; stronger split checks</a:t>
            </a:r>
          </a:p>
        </p:txBody>
      </p:sp>
      <p:sp>
        <p:nvSpPr>
          <p:cNvPr id="3" name="Rectangle 2">
            <a:extLst>
              <a:ext uri="{FF2B5EF4-FFF2-40B4-BE49-F238E27FC236}">
                <a16:creationId xmlns:a16="http://schemas.microsoft.com/office/drawing/2014/main" id="{15638B7C-FC11-425C-B068-8B38A3A38222}"/>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30202D8F-D647-40A6-BCD2-E33D7CF2A252}"/>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04</a:t>
            </a:r>
          </a:p>
        </p:txBody>
      </p:sp>
      <p:sp>
        <p:nvSpPr>
          <p:cNvPr id="5" name="Rectangle 4">
            <a:extLst>
              <a:ext uri="{FF2B5EF4-FFF2-40B4-BE49-F238E27FC236}">
                <a16:creationId xmlns:a16="http://schemas.microsoft.com/office/drawing/2014/main" id="{96E21C36-A148-4D8F-946B-5BFCB2251839}"/>
              </a:ext>
            </a:extLst>
          </p:cNvPr>
          <p:cNvSpPr>
            <a:spLocks noGrp="1"/>
          </p:cNvSpPr>
          <p:nvPr/>
        </p:nvSpPr>
        <p:spPr>
          <a:xfrm>
            <a:off x="609600" y="1857375"/>
            <a:ext cx="5095875" cy="495300"/>
          </a:xfrm>
          <a:prstGeom prst="rect">
            <a:avLst/>
          </a:prstGeom>
          <a:noFill/>
          <a:ln w="0">
            <a:noFill/>
          </a:ln>
        </p:spPr>
        <p:txBody>
          <a:bodyPr/>
          <a:lstStyle/>
          <a:p>
            <a:pPr>
              <a:defRPr sz="2400" b="1">
                <a:solidFill>
                  <a:srgbClr val="137C62"/>
                </a:solidFill>
              </a:defRPr>
            </a:pPr>
            <a:r>
              <a:rPr sz="2400" b="1">
                <a:solidFill>
                  <a:srgbClr val="137C62"/>
                </a:solidFill>
              </a:rPr>
              <a:t>Prepare each image</a:t>
            </a:r>
          </a:p>
        </p:txBody>
      </p:sp>
      <p:sp>
        <p:nvSpPr>
          <p:cNvPr id="6" name="Rectangle 5">
            <a:extLst>
              <a:ext uri="{FF2B5EF4-FFF2-40B4-BE49-F238E27FC236}">
                <a16:creationId xmlns:a16="http://schemas.microsoft.com/office/drawing/2014/main" id="{8542C574-2E8F-4E69-A29C-9E053B0C35F3}"/>
              </a:ext>
            </a:extLst>
          </p:cNvPr>
          <p:cNvSpPr>
            <a:spLocks noGrp="1"/>
          </p:cNvSpPr>
          <p:nvPr/>
        </p:nvSpPr>
        <p:spPr>
          <a:xfrm>
            <a:off x="609600" y="2543175"/>
            <a:ext cx="5476875" cy="2809875"/>
          </a:xfrm>
          <a:prstGeom prst="rect">
            <a:avLst/>
          </a:prstGeom>
          <a:noFill/>
          <a:ln w="0">
            <a:noFill/>
          </a:ln>
        </p:spPr>
        <p:txBody>
          <a:bodyPr/>
          <a:lstStyle/>
          <a:p>
            <a:pPr>
              <a:defRPr sz="1875" b="0">
                <a:solidFill>
                  <a:srgbClr val="102B3B"/>
                </a:solidFill>
              </a:defRPr>
            </a:pPr>
            <a:r>
              <a:rPr sz="1875" b="0">
                <a:solidFill>
                  <a:srgbClr val="102B3B"/>
                </a:solidFill>
              </a:rPr>
              <a:t>1  Correct orientation and convert to RGB</a:t>
            </a:r>
          </a:p>
          <a:p>
            <a:endParaRPr sz="1875" b="0">
              <a:solidFill>
                <a:srgbClr val="102B3B"/>
              </a:solidFill>
            </a:endParaRPr>
          </a:p>
          <a:p>
            <a:pPr>
              <a:defRPr sz="1875" b="0">
                <a:solidFill>
                  <a:srgbClr val="102B3B"/>
                </a:solidFill>
              </a:defRPr>
            </a:pPr>
            <a:r>
              <a:rPr sz="1875" b="0">
                <a:solidFill>
                  <a:srgbClr val="102B3B"/>
                </a:solidFill>
              </a:rPr>
              <a:t>2  Crop reviewed product regions</a:t>
            </a:r>
          </a:p>
          <a:p>
            <a:endParaRPr sz="1875" b="0">
              <a:solidFill>
                <a:srgbClr val="102B3B"/>
              </a:solidFill>
            </a:endParaRPr>
          </a:p>
          <a:p>
            <a:pPr>
              <a:defRPr sz="1875" b="0">
                <a:solidFill>
                  <a:srgbClr val="102B3B"/>
                </a:solidFill>
              </a:defRPr>
            </a:pPr>
            <a:r>
              <a:rPr sz="1875" b="0">
                <a:solidFill>
                  <a:srgbClr val="102B3B"/>
                </a:solidFill>
              </a:rPr>
              <a:t>3  Pad to a white 160 × 160 frame</a:t>
            </a:r>
          </a:p>
          <a:p>
            <a:endParaRPr sz="1875" b="0">
              <a:solidFill>
                <a:srgbClr val="102B3B"/>
              </a:solidFill>
            </a:endParaRPr>
          </a:p>
          <a:p>
            <a:pPr>
              <a:defRPr sz="1875" b="0">
                <a:solidFill>
                  <a:srgbClr val="102B3B"/>
                </a:solidFill>
              </a:defRPr>
            </a:pPr>
            <a:r>
              <a:rPr sz="1875" b="0">
                <a:solidFill>
                  <a:srgbClr val="102B3B"/>
                </a:solidFill>
              </a:rPr>
              <a:t>4  Encode JPEG at quality 95</a:t>
            </a:r>
          </a:p>
        </p:txBody>
      </p:sp>
      <p:pic>
        <p:nvPicPr>
          <p:cNvPr id="16" name="Picture 15"/>
          <p:cNvPicPr>
            <a:picLocks noChangeAspect="1"/>
          </p:cNvPicPr>
          <p:nvPr/>
        </p:nvPicPr>
        <p:blipFill>
          <a:blip r:embed="rId3"/>
          <a:stretch/>
        </p:blipFill>
        <p:spPr>
          <a:xfrm>
            <a:off x="6832600" y="1828800"/>
            <a:ext cx="4318000" cy="3238500"/>
          </a:xfrm>
          <a:prstGeom prst="rect">
            <a:avLst/>
          </a:prstGeom>
        </p:spPr>
      </p:pic>
      <p:sp>
        <p:nvSpPr>
          <p:cNvPr id="8" name="Rectangle 7">
            <a:extLst>
              <a:ext uri="{FF2B5EF4-FFF2-40B4-BE49-F238E27FC236}">
                <a16:creationId xmlns:a16="http://schemas.microsoft.com/office/drawing/2014/main" id="{16B6F6F5-5689-4D3F-8CCA-4F3355086C36}"/>
              </a:ext>
            </a:extLst>
          </p:cNvPr>
          <p:cNvSpPr>
            <a:spLocks noGrp="1"/>
          </p:cNvSpPr>
          <p:nvPr/>
        </p:nvSpPr>
        <p:spPr>
          <a:xfrm>
            <a:off x="6762750" y="5162550"/>
            <a:ext cx="4524375" cy="333375"/>
          </a:xfrm>
          <a:prstGeom prst="rect">
            <a:avLst/>
          </a:prstGeom>
          <a:noFill/>
          <a:ln w="0">
            <a:noFill/>
          </a:ln>
        </p:spPr>
        <p:txBody>
          <a:bodyPr/>
          <a:lstStyle/>
          <a:p>
            <a:pPr>
              <a:defRPr sz="1500" b="0">
                <a:solidFill>
                  <a:srgbClr val="526C75"/>
                </a:solidFill>
              </a:defRPr>
            </a:pPr>
            <a:r>
              <a:rPr sz="1500" b="0">
                <a:solidFill>
                  <a:srgbClr val="526C75"/>
                </a:solidFill>
              </a:rPr>
              <a:t>Actual natural training examples</a:t>
            </a:r>
          </a:p>
        </p:txBody>
      </p:sp>
      <p:sp>
        <p:nvSpPr>
          <p:cNvPr id="9" name="Rectangle 8">
            <a:extLst>
              <a:ext uri="{FF2B5EF4-FFF2-40B4-BE49-F238E27FC236}">
                <a16:creationId xmlns:a16="http://schemas.microsoft.com/office/drawing/2014/main" id="{F68C4193-6F5A-4262-9119-D410F230066D}"/>
              </a:ext>
            </a:extLst>
          </p:cNvPr>
          <p:cNvSpPr>
            <a:spLocks noGrp="1"/>
          </p:cNvSpPr>
          <p:nvPr/>
        </p:nvSpPr>
        <p:spPr>
          <a:xfrm>
            <a:off x="609600" y="5762625"/>
            <a:ext cx="10972800" cy="381000"/>
          </a:xfrm>
          <a:prstGeom prst="rect">
            <a:avLst/>
          </a:prstGeom>
          <a:noFill/>
          <a:ln w="0">
            <a:noFill/>
          </a:ln>
        </p:spPr>
        <p:txBody>
          <a:bodyPr/>
          <a:lstStyle/>
          <a:p>
            <a:pPr>
              <a:defRPr sz="1875" b="1">
                <a:solidFill>
                  <a:srgbClr val="137C62"/>
                </a:solidFill>
              </a:defRPr>
            </a:pPr>
            <a:r>
              <a:rPr sz="1875" b="1">
                <a:solidFill>
                  <a:srgbClr val="137C62"/>
                </a:solidFill>
              </a:rPr>
              <a:t>Remove exact duplicates • Group varieties and capture years</a:t>
            </a:r>
          </a:p>
        </p:txBody>
      </p:sp>
    </p:spTree>
    <p:extLst>
      <p:ext uri="{BB962C8B-B14F-4D97-AF65-F5344CB8AC3E}">
        <p14:creationId xmlns:p14="http://schemas.microsoft.com/office/powerpoint/2010/main" val="798403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3910CC78-BD6D-4334-82DF-6824B6DA9B87}"/>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04 / MODELS AND TRAINING</a:t>
            </a:r>
          </a:p>
        </p:txBody>
      </p:sp>
      <p:sp>
        <p:nvSpPr>
          <p:cNvPr id="2" name="Rectangle 1">
            <a:extLst>
              <a:ext uri="{FF2B5EF4-FFF2-40B4-BE49-F238E27FC236}">
                <a16:creationId xmlns:a16="http://schemas.microsoft.com/office/drawing/2014/main" id="{E609FAA1-9607-483F-B12F-04A88D5A9214}"/>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Compare learning from scratch and transfer</a:t>
            </a:r>
          </a:p>
        </p:txBody>
      </p:sp>
      <p:sp>
        <p:nvSpPr>
          <p:cNvPr id="3" name="Rectangle 2">
            <a:extLst>
              <a:ext uri="{FF2B5EF4-FFF2-40B4-BE49-F238E27FC236}">
                <a16:creationId xmlns:a16="http://schemas.microsoft.com/office/drawing/2014/main" id="{14F76A1C-A0A5-469F-BB8D-1B1274B2739C}"/>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4A316A1F-B99F-4669-8516-F5CBDC2F18F4}"/>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05</a:t>
            </a:r>
          </a:p>
        </p:txBody>
      </p:sp>
      <p:sp>
        <p:nvSpPr>
          <p:cNvPr id="5" name="Rectangle 4">
            <a:extLst>
              <a:ext uri="{FF2B5EF4-FFF2-40B4-BE49-F238E27FC236}">
                <a16:creationId xmlns:a16="http://schemas.microsoft.com/office/drawing/2014/main" id="{94B41550-ACF2-48DD-BEF5-35F48D232822}"/>
              </a:ext>
            </a:extLst>
          </p:cNvPr>
          <p:cNvSpPr>
            <a:spLocks noGrp="1"/>
          </p:cNvSpPr>
          <p:nvPr/>
        </p:nvSpPr>
        <p:spPr>
          <a:xfrm>
            <a:off x="609600" y="1876425"/>
            <a:ext cx="3143250" cy="666750"/>
          </a:xfrm>
          <a:prstGeom prst="rect">
            <a:avLst/>
          </a:prstGeom>
          <a:noFill/>
          <a:ln w="0">
            <a:noFill/>
          </a:ln>
        </p:spPr>
        <p:txBody>
          <a:bodyPr/>
          <a:lstStyle/>
          <a:p>
            <a:pPr>
              <a:defRPr sz="3600" b="1">
                <a:solidFill>
                  <a:srgbClr val="137C62"/>
                </a:solidFill>
              </a:defRPr>
            </a:pPr>
            <a:r>
              <a:rPr sz="3600" b="1">
                <a:solidFill>
                  <a:srgbClr val="137C62"/>
                </a:solidFill>
              </a:rPr>
              <a:t>01</a:t>
            </a:r>
          </a:p>
        </p:txBody>
      </p:sp>
      <p:sp>
        <p:nvSpPr>
          <p:cNvPr id="7" name="Rectangle 6">
            <a:extLst>
              <a:ext uri="{FF2B5EF4-FFF2-40B4-BE49-F238E27FC236}">
                <a16:creationId xmlns:a16="http://schemas.microsoft.com/office/drawing/2014/main" id="{7FED5B41-A900-4DE4-910B-A7C6D616CD51}"/>
              </a:ext>
            </a:extLst>
          </p:cNvPr>
          <p:cNvSpPr>
            <a:spLocks noGrp="1"/>
          </p:cNvSpPr>
          <p:nvPr/>
        </p:nvSpPr>
        <p:spPr>
          <a:xfrm>
            <a:off x="4419600" y="1876425"/>
            <a:ext cx="3143250" cy="666750"/>
          </a:xfrm>
          <a:prstGeom prst="rect">
            <a:avLst/>
          </a:prstGeom>
          <a:noFill/>
          <a:ln w="0">
            <a:noFill/>
          </a:ln>
        </p:spPr>
        <p:txBody>
          <a:bodyPr/>
          <a:lstStyle/>
          <a:p>
            <a:pPr>
              <a:defRPr sz="3600" b="1">
                <a:solidFill>
                  <a:srgbClr val="137C62"/>
                </a:solidFill>
              </a:defRPr>
            </a:pPr>
            <a:r>
              <a:rPr sz="3600" b="1">
                <a:solidFill>
                  <a:srgbClr val="137C62"/>
                </a:solidFill>
              </a:rPr>
              <a:t>02</a:t>
            </a:r>
          </a:p>
        </p:txBody>
      </p:sp>
      <p:sp>
        <p:nvSpPr>
          <p:cNvPr id="9" name="Rectangle 8">
            <a:extLst>
              <a:ext uri="{FF2B5EF4-FFF2-40B4-BE49-F238E27FC236}">
                <a16:creationId xmlns:a16="http://schemas.microsoft.com/office/drawing/2014/main" id="{DE34B67E-B821-41BA-BCCE-78FCA90D67B8}"/>
              </a:ext>
            </a:extLst>
          </p:cNvPr>
          <p:cNvSpPr>
            <a:spLocks noGrp="1"/>
          </p:cNvSpPr>
          <p:nvPr/>
        </p:nvSpPr>
        <p:spPr>
          <a:xfrm>
            <a:off x="8229600" y="1876425"/>
            <a:ext cx="3143250" cy="666750"/>
          </a:xfrm>
          <a:prstGeom prst="rect">
            <a:avLst/>
          </a:prstGeom>
          <a:noFill/>
          <a:ln w="0">
            <a:noFill/>
          </a:ln>
        </p:spPr>
        <p:txBody>
          <a:bodyPr/>
          <a:lstStyle/>
          <a:p>
            <a:pPr>
              <a:defRPr sz="3600" b="1">
                <a:solidFill>
                  <a:srgbClr val="137C62"/>
                </a:solidFill>
              </a:defRPr>
            </a:pPr>
            <a:r>
              <a:rPr sz="3600" b="1">
                <a:solidFill>
                  <a:srgbClr val="137C62"/>
                </a:solidFill>
              </a:rPr>
              <a:t>03</a:t>
            </a:r>
          </a:p>
        </p:txBody>
      </p:sp>
      <p:sp>
        <p:nvSpPr>
          <p:cNvPr id="10" name="Rectangle 9">
            <a:extLst>
              <a:ext uri="{FF2B5EF4-FFF2-40B4-BE49-F238E27FC236}">
                <a16:creationId xmlns:a16="http://schemas.microsoft.com/office/drawing/2014/main" id="{10A3A601-8FE5-46DD-B1A3-E1394ECEF365}"/>
              </a:ext>
            </a:extLst>
          </p:cNvPr>
          <p:cNvSpPr>
            <a:spLocks noGrp="1"/>
          </p:cNvSpPr>
          <p:nvPr/>
        </p:nvSpPr>
        <p:spPr>
          <a:xfrm>
            <a:off x="609600" y="2686050"/>
            <a:ext cx="3238500" cy="476250"/>
          </a:xfrm>
          <a:prstGeom prst="rect">
            <a:avLst/>
          </a:prstGeom>
          <a:noFill/>
          <a:ln w="0">
            <a:noFill/>
          </a:ln>
        </p:spPr>
        <p:txBody>
          <a:bodyPr/>
          <a:lstStyle/>
          <a:p>
            <a:pPr>
              <a:defRPr sz="2400" b="1">
                <a:solidFill>
                  <a:srgbClr val="102B3B"/>
                </a:solidFill>
              </a:defRPr>
            </a:pPr>
            <a:r>
              <a:rPr sz="2400" b="1">
                <a:solidFill>
                  <a:srgbClr val="102B3B"/>
                </a:solidFill>
              </a:rPr>
              <a:t>CNN</a:t>
            </a:r>
          </a:p>
        </p:txBody>
      </p:sp>
      <p:sp>
        <p:nvSpPr>
          <p:cNvPr id="11" name="Rectangle 10">
            <a:extLst>
              <a:ext uri="{FF2B5EF4-FFF2-40B4-BE49-F238E27FC236}">
                <a16:creationId xmlns:a16="http://schemas.microsoft.com/office/drawing/2014/main" id="{D22B15BE-8A6B-40E0-82DA-18605B306CC3}"/>
              </a:ext>
            </a:extLst>
          </p:cNvPr>
          <p:cNvSpPr>
            <a:spLocks noGrp="1"/>
          </p:cNvSpPr>
          <p:nvPr/>
        </p:nvSpPr>
        <p:spPr>
          <a:xfrm>
            <a:off x="609600" y="3238500"/>
            <a:ext cx="3238500" cy="381000"/>
          </a:xfrm>
          <a:prstGeom prst="rect">
            <a:avLst/>
          </a:prstGeom>
          <a:noFill/>
          <a:ln w="0">
            <a:noFill/>
          </a:ln>
        </p:spPr>
        <p:txBody>
          <a:bodyPr/>
          <a:lstStyle/>
          <a:p>
            <a:pPr>
              <a:defRPr sz="1725" b="1">
                <a:solidFill>
                  <a:srgbClr val="137C62"/>
                </a:solidFill>
              </a:defRPr>
            </a:pPr>
            <a:r>
              <a:rPr sz="1725" b="1">
                <a:solidFill>
                  <a:srgbClr val="137C62"/>
                </a:solidFill>
              </a:rPr>
              <a:t>From scratch</a:t>
            </a:r>
          </a:p>
        </p:txBody>
      </p:sp>
      <p:sp>
        <p:nvSpPr>
          <p:cNvPr id="12" name="Rectangle 11">
            <a:extLst>
              <a:ext uri="{FF2B5EF4-FFF2-40B4-BE49-F238E27FC236}">
                <a16:creationId xmlns:a16="http://schemas.microsoft.com/office/drawing/2014/main" id="{C364B276-3D6B-4F3F-B762-BC57CB2B07A4}"/>
              </a:ext>
            </a:extLst>
          </p:cNvPr>
          <p:cNvSpPr>
            <a:spLocks noGrp="1"/>
          </p:cNvSpPr>
          <p:nvPr/>
        </p:nvSpPr>
        <p:spPr>
          <a:xfrm>
            <a:off x="609600" y="3829050"/>
            <a:ext cx="3190875" cy="1762125"/>
          </a:xfrm>
          <a:prstGeom prst="rect">
            <a:avLst/>
          </a:prstGeom>
          <a:noFill/>
          <a:ln w="0">
            <a:noFill/>
          </a:ln>
        </p:spPr>
        <p:txBody>
          <a:bodyPr/>
          <a:lstStyle/>
          <a:p>
            <a:pPr>
              <a:defRPr sz="1800" b="0">
                <a:solidFill>
                  <a:srgbClr val="102B3B"/>
                </a:solidFill>
              </a:defRPr>
            </a:pPr>
            <a:r>
              <a:rPr sz="1800" b="0">
                <a:solidFill>
                  <a:srgbClr val="102B3B"/>
                </a:solidFill>
              </a:rPr>
              <a:t>Three convolution / pooling blocks</a:t>
            </a:r>
          </a:p>
          <a:p>
            <a:endParaRPr sz="1800" b="0">
              <a:solidFill>
                <a:srgbClr val="102B3B"/>
              </a:solidFill>
            </a:endParaRPr>
          </a:p>
          <a:p>
            <a:pPr>
              <a:defRPr sz="1800" b="0">
                <a:solidFill>
                  <a:srgbClr val="102B3B"/>
                </a:solidFill>
              </a:defRPr>
            </a:pPr>
            <a:r>
              <a:rPr sz="1800" b="0">
                <a:solidFill>
                  <a:srgbClr val="102B3B"/>
                </a:solidFill>
              </a:rPr>
              <a:t>Global average pooling</a:t>
            </a:r>
          </a:p>
          <a:p>
            <a:pPr>
              <a:defRPr sz="1800" b="0">
                <a:solidFill>
                  <a:srgbClr val="102B3B"/>
                </a:solidFill>
              </a:defRPr>
            </a:pPr>
            <a:r>
              <a:rPr sz="1800" b="0">
                <a:solidFill>
                  <a:srgbClr val="102B3B"/>
                </a:solidFill>
              </a:rPr>
              <a:t>Dense layer and dropout</a:t>
            </a:r>
          </a:p>
        </p:txBody>
      </p:sp>
      <p:sp>
        <p:nvSpPr>
          <p:cNvPr id="13" name="Rectangle 12">
            <a:extLst>
              <a:ext uri="{FF2B5EF4-FFF2-40B4-BE49-F238E27FC236}">
                <a16:creationId xmlns:a16="http://schemas.microsoft.com/office/drawing/2014/main" id="{BD73F875-A434-476B-953A-125D76EC5609}"/>
              </a:ext>
            </a:extLst>
          </p:cNvPr>
          <p:cNvSpPr>
            <a:spLocks noGrp="1"/>
          </p:cNvSpPr>
          <p:nvPr/>
        </p:nvSpPr>
        <p:spPr>
          <a:xfrm>
            <a:off x="4419600" y="2686050"/>
            <a:ext cx="3238500" cy="476250"/>
          </a:xfrm>
          <a:prstGeom prst="rect">
            <a:avLst/>
          </a:prstGeom>
          <a:noFill/>
          <a:ln w="0">
            <a:noFill/>
          </a:ln>
        </p:spPr>
        <p:txBody>
          <a:bodyPr/>
          <a:lstStyle/>
          <a:p>
            <a:pPr>
              <a:defRPr sz="2400" b="1">
                <a:solidFill>
                  <a:srgbClr val="102B3B"/>
                </a:solidFill>
              </a:defRPr>
            </a:pPr>
            <a:r>
              <a:rPr sz="2400" b="1">
                <a:solidFill>
                  <a:srgbClr val="102B3B"/>
                </a:solidFill>
              </a:rPr>
              <a:t>MobileNetV2</a:t>
            </a:r>
          </a:p>
        </p:txBody>
      </p:sp>
      <p:sp>
        <p:nvSpPr>
          <p:cNvPr id="14" name="Rectangle 13">
            <a:extLst>
              <a:ext uri="{FF2B5EF4-FFF2-40B4-BE49-F238E27FC236}">
                <a16:creationId xmlns:a16="http://schemas.microsoft.com/office/drawing/2014/main" id="{9F028E7B-79C4-4A16-A31E-99C80DE8BAC9}"/>
              </a:ext>
            </a:extLst>
          </p:cNvPr>
          <p:cNvSpPr>
            <a:spLocks noGrp="1"/>
          </p:cNvSpPr>
          <p:nvPr/>
        </p:nvSpPr>
        <p:spPr>
          <a:xfrm>
            <a:off x="4419600" y="3238500"/>
            <a:ext cx="3238500" cy="381000"/>
          </a:xfrm>
          <a:prstGeom prst="rect">
            <a:avLst/>
          </a:prstGeom>
          <a:noFill/>
          <a:ln w="0">
            <a:noFill/>
          </a:ln>
        </p:spPr>
        <p:txBody>
          <a:bodyPr/>
          <a:lstStyle/>
          <a:p>
            <a:pPr>
              <a:defRPr sz="1725" b="1">
                <a:solidFill>
                  <a:srgbClr val="137C62"/>
                </a:solidFill>
              </a:defRPr>
            </a:pPr>
            <a:r>
              <a:rPr sz="1725" b="1">
                <a:solidFill>
                  <a:srgbClr val="137C62"/>
                </a:solidFill>
              </a:rPr>
              <a:t>Frozen base</a:t>
            </a:r>
          </a:p>
        </p:txBody>
      </p:sp>
      <p:sp>
        <p:nvSpPr>
          <p:cNvPr id="15" name="Rectangle 14">
            <a:extLst>
              <a:ext uri="{FF2B5EF4-FFF2-40B4-BE49-F238E27FC236}">
                <a16:creationId xmlns:a16="http://schemas.microsoft.com/office/drawing/2014/main" id="{3EF2DDDE-DB9A-4FFA-9231-4EF2319C47BF}"/>
              </a:ext>
            </a:extLst>
          </p:cNvPr>
          <p:cNvSpPr>
            <a:spLocks noGrp="1"/>
          </p:cNvSpPr>
          <p:nvPr/>
        </p:nvSpPr>
        <p:spPr>
          <a:xfrm>
            <a:off x="4419600" y="3829050"/>
            <a:ext cx="3190875" cy="1762125"/>
          </a:xfrm>
          <a:prstGeom prst="rect">
            <a:avLst/>
          </a:prstGeom>
          <a:noFill/>
          <a:ln w="0">
            <a:noFill/>
          </a:ln>
        </p:spPr>
        <p:txBody>
          <a:bodyPr/>
          <a:lstStyle/>
          <a:p>
            <a:pPr>
              <a:defRPr sz="1800" b="0">
                <a:solidFill>
                  <a:srgbClr val="102B3B"/>
                </a:solidFill>
              </a:defRPr>
            </a:pPr>
            <a:r>
              <a:rPr sz="1800" b="0">
                <a:solidFill>
                  <a:srgbClr val="102B3B"/>
                </a:solidFill>
              </a:rPr>
              <a:t>ImageNet feature extractor</a:t>
            </a:r>
          </a:p>
          <a:p>
            <a:endParaRPr sz="1800" b="0">
              <a:solidFill>
                <a:srgbClr val="102B3B"/>
              </a:solidFill>
            </a:endParaRPr>
          </a:p>
          <a:p>
            <a:pPr>
              <a:defRPr sz="1800" b="0">
                <a:solidFill>
                  <a:srgbClr val="102B3B"/>
                </a:solidFill>
              </a:defRPr>
            </a:pPr>
            <a:r>
              <a:rPr sz="1800" b="0">
                <a:solidFill>
                  <a:srgbClr val="102B3B"/>
                </a:solidFill>
              </a:rPr>
              <a:t>Freeze base weights</a:t>
            </a:r>
          </a:p>
          <a:p>
            <a:pPr>
              <a:defRPr sz="1800" b="0">
                <a:solidFill>
                  <a:srgbClr val="102B3B"/>
                </a:solidFill>
              </a:defRPr>
            </a:pPr>
            <a:r>
              <a:rPr sz="1800" b="0">
                <a:solidFill>
                  <a:srgbClr val="102B3B"/>
                </a:solidFill>
              </a:rPr>
              <a:t>Train an 84-class head</a:t>
            </a:r>
          </a:p>
        </p:txBody>
      </p:sp>
      <p:sp>
        <p:nvSpPr>
          <p:cNvPr id="16" name="Rectangle 15">
            <a:extLst>
              <a:ext uri="{FF2B5EF4-FFF2-40B4-BE49-F238E27FC236}">
                <a16:creationId xmlns:a16="http://schemas.microsoft.com/office/drawing/2014/main" id="{A72F3A93-E9F9-4672-AE71-CB64E299C4C6}"/>
              </a:ext>
            </a:extLst>
          </p:cNvPr>
          <p:cNvSpPr>
            <a:spLocks noGrp="1"/>
          </p:cNvSpPr>
          <p:nvPr/>
        </p:nvSpPr>
        <p:spPr>
          <a:xfrm>
            <a:off x="8229600" y="2686050"/>
            <a:ext cx="3238500" cy="476250"/>
          </a:xfrm>
          <a:prstGeom prst="rect">
            <a:avLst/>
          </a:prstGeom>
          <a:noFill/>
          <a:ln w="0">
            <a:noFill/>
          </a:ln>
        </p:spPr>
        <p:txBody>
          <a:bodyPr/>
          <a:lstStyle/>
          <a:p>
            <a:pPr>
              <a:defRPr sz="2400" b="1">
                <a:solidFill>
                  <a:srgbClr val="102B3B"/>
                </a:solidFill>
              </a:defRPr>
            </a:pPr>
            <a:r>
              <a:rPr sz="2400" b="1">
                <a:solidFill>
                  <a:srgbClr val="102B3B"/>
                </a:solidFill>
              </a:rPr>
              <a:t>Fine-tuning</a:t>
            </a:r>
          </a:p>
        </p:txBody>
      </p:sp>
      <p:sp>
        <p:nvSpPr>
          <p:cNvPr id="17" name="Rectangle 16">
            <a:extLst>
              <a:ext uri="{FF2B5EF4-FFF2-40B4-BE49-F238E27FC236}">
                <a16:creationId xmlns:a16="http://schemas.microsoft.com/office/drawing/2014/main" id="{9C72B714-F179-403C-89C0-9886EE0E08B2}"/>
              </a:ext>
            </a:extLst>
          </p:cNvPr>
          <p:cNvSpPr>
            <a:spLocks noGrp="1"/>
          </p:cNvSpPr>
          <p:nvPr/>
        </p:nvSpPr>
        <p:spPr>
          <a:xfrm>
            <a:off x="8229600" y="3238500"/>
            <a:ext cx="3238500" cy="381000"/>
          </a:xfrm>
          <a:prstGeom prst="rect">
            <a:avLst/>
          </a:prstGeom>
          <a:noFill/>
          <a:ln w="0">
            <a:noFill/>
          </a:ln>
        </p:spPr>
        <p:txBody>
          <a:bodyPr/>
          <a:lstStyle/>
          <a:p>
            <a:pPr>
              <a:defRPr sz="1725" b="1">
                <a:solidFill>
                  <a:srgbClr val="137C62"/>
                </a:solidFill>
              </a:defRPr>
            </a:pPr>
            <a:r>
              <a:rPr sz="1725" b="1">
                <a:solidFill>
                  <a:srgbClr val="137C62"/>
                </a:solidFill>
              </a:rPr>
              <a:t>Adapt selected layers</a:t>
            </a:r>
          </a:p>
        </p:txBody>
      </p:sp>
      <p:sp>
        <p:nvSpPr>
          <p:cNvPr id="18" name="Rectangle 17">
            <a:extLst>
              <a:ext uri="{FF2B5EF4-FFF2-40B4-BE49-F238E27FC236}">
                <a16:creationId xmlns:a16="http://schemas.microsoft.com/office/drawing/2014/main" id="{4B4DBD96-732C-438A-855C-E636280C146E}"/>
              </a:ext>
            </a:extLst>
          </p:cNvPr>
          <p:cNvSpPr>
            <a:spLocks noGrp="1"/>
          </p:cNvSpPr>
          <p:nvPr/>
        </p:nvSpPr>
        <p:spPr>
          <a:xfrm>
            <a:off x="8229600" y="3829050"/>
            <a:ext cx="3190875" cy="1762125"/>
          </a:xfrm>
          <a:prstGeom prst="rect">
            <a:avLst/>
          </a:prstGeom>
          <a:noFill/>
          <a:ln w="0">
            <a:noFill/>
          </a:ln>
        </p:spPr>
        <p:txBody>
          <a:bodyPr/>
          <a:lstStyle/>
          <a:p>
            <a:pPr>
              <a:defRPr sz="1800" b="0">
                <a:solidFill>
                  <a:srgbClr val="102B3B"/>
                </a:solidFill>
              </a:defRPr>
            </a:pPr>
            <a:r>
              <a:rPr sz="1800" b="0">
                <a:solidFill>
                  <a:srgbClr val="102B3B"/>
                </a:solidFill>
              </a:rPr>
              <a:t>Start from the best head</a:t>
            </a:r>
          </a:p>
          <a:p>
            <a:endParaRPr sz="1800" b="0">
              <a:solidFill>
                <a:srgbClr val="102B3B"/>
              </a:solidFill>
            </a:endParaRPr>
          </a:p>
          <a:p>
            <a:pPr>
              <a:defRPr sz="1800" b="0">
                <a:solidFill>
                  <a:srgbClr val="102B3B"/>
                </a:solidFill>
              </a:defRPr>
            </a:pPr>
            <a:r>
              <a:rPr sz="1800" b="0">
                <a:solidFill>
                  <a:srgbClr val="102B3B"/>
                </a:solidFill>
              </a:rPr>
              <a:t>Last 30 base layers,</a:t>
            </a:r>
          </a:p>
          <a:p>
            <a:pPr>
              <a:defRPr sz="1800" b="0">
                <a:solidFill>
                  <a:srgbClr val="102B3B"/>
                </a:solidFill>
              </a:defRPr>
            </a:pPr>
            <a:r>
              <a:rPr sz="1800" b="0">
                <a:solidFill>
                  <a:srgbClr val="102B3B"/>
                </a:solidFill>
              </a:rPr>
              <a:t>excluding batch normalization</a:t>
            </a:r>
          </a:p>
          <a:p>
            <a:pPr>
              <a:defRPr sz="1800" b="0">
                <a:solidFill>
                  <a:srgbClr val="102B3B"/>
                </a:solidFill>
              </a:defRPr>
            </a:pPr>
            <a:r>
              <a:rPr sz="1800" b="0">
                <a:solidFill>
                  <a:srgbClr val="102B3B"/>
                </a:solidFill>
              </a:rPr>
              <a:t>Smaller learning rate</a:t>
            </a:r>
          </a:p>
        </p:txBody>
      </p:sp>
      <p:sp>
        <p:nvSpPr>
          <p:cNvPr id="19" name="Rectangle 18">
            <a:extLst>
              <a:ext uri="{FF2B5EF4-FFF2-40B4-BE49-F238E27FC236}">
                <a16:creationId xmlns:a16="http://schemas.microsoft.com/office/drawing/2014/main" id="{0E462015-C676-4219-B718-E85B6E260A5F}"/>
              </a:ext>
            </a:extLst>
          </p:cNvPr>
          <p:cNvSpPr>
            <a:spLocks noGrp="1"/>
          </p:cNvSpPr>
          <p:nvPr/>
        </p:nvSpPr>
        <p:spPr>
          <a:xfrm>
            <a:off x="609600" y="5810250"/>
            <a:ext cx="10972800" cy="381000"/>
          </a:xfrm>
          <a:prstGeom prst="rect">
            <a:avLst/>
          </a:prstGeom>
          <a:noFill/>
          <a:ln w="0">
            <a:noFill/>
          </a:ln>
        </p:spPr>
        <p:txBody>
          <a:bodyPr/>
          <a:lstStyle/>
          <a:p>
            <a:pPr>
              <a:defRPr sz="1875" b="0">
                <a:solidFill>
                  <a:srgbClr val="526C75"/>
                </a:solidFill>
              </a:defRPr>
            </a:pPr>
            <a:r>
              <a:rPr sz="1875" b="0">
                <a:solidFill>
                  <a:srgbClr val="526C75"/>
                </a:solidFill>
              </a:rPr>
              <a:t>Adam • Cross-entropy • Augmentation • Early stopping</a:t>
            </a:r>
          </a:p>
        </p:txBody>
      </p:sp>
    </p:spTree>
    <p:extLst>
      <p:ext uri="{BB962C8B-B14F-4D97-AF65-F5344CB8AC3E}">
        <p14:creationId xmlns:p14="http://schemas.microsoft.com/office/powerpoint/2010/main" val="22592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1CB8D710-F266-4AE7-9B32-062791275342}"/>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05 / EVALUATION</a:t>
            </a:r>
          </a:p>
        </p:txBody>
      </p:sp>
      <p:sp>
        <p:nvSpPr>
          <p:cNvPr id="2" name="Rectangle 1">
            <a:extLst>
              <a:ext uri="{FF2B5EF4-FFF2-40B4-BE49-F238E27FC236}">
                <a16:creationId xmlns:a16="http://schemas.microsoft.com/office/drawing/2014/main" id="{2B99098E-C4DC-4EB7-98E9-637D0592BCF4}"/>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Select on validation; report on test</a:t>
            </a:r>
          </a:p>
        </p:txBody>
      </p:sp>
      <p:sp>
        <p:nvSpPr>
          <p:cNvPr id="3" name="Rectangle 2">
            <a:extLst>
              <a:ext uri="{FF2B5EF4-FFF2-40B4-BE49-F238E27FC236}">
                <a16:creationId xmlns:a16="http://schemas.microsoft.com/office/drawing/2014/main" id="{05271CFA-EC9A-4D66-84BE-50E254431699}"/>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05F71224-EDF4-4268-857A-D090101D68FF}"/>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06</a:t>
            </a:r>
          </a:p>
        </p:txBody>
      </p:sp>
      <p:sp>
        <p:nvSpPr>
          <p:cNvPr id="5" name="Rectangle 4">
            <a:extLst>
              <a:ext uri="{FF2B5EF4-FFF2-40B4-BE49-F238E27FC236}">
                <a16:creationId xmlns:a16="http://schemas.microsoft.com/office/drawing/2014/main" id="{06D12FAF-A0BA-4606-BC7A-3663E9CF9BB6}"/>
              </a:ext>
            </a:extLst>
          </p:cNvPr>
          <p:cNvSpPr>
            <a:spLocks noGrp="1"/>
          </p:cNvSpPr>
          <p:nvPr/>
        </p:nvSpPr>
        <p:spPr>
          <a:xfrm>
            <a:off x="609600" y="1809750"/>
            <a:ext cx="6038850" cy="533400"/>
          </a:xfrm>
          <a:prstGeom prst="rect">
            <a:avLst/>
          </a:prstGeom>
          <a:noFill/>
          <a:ln w="0">
            <a:noFill/>
          </a:ln>
        </p:spPr>
        <p:txBody>
          <a:bodyPr/>
          <a:lstStyle/>
          <a:p>
            <a:pPr>
              <a:defRPr sz="1800" b="1">
                <a:solidFill>
                  <a:srgbClr val="137C62"/>
                </a:solidFill>
              </a:defRPr>
            </a:pPr>
            <a:r>
              <a:rPr sz="1800" b="1">
                <a:solidFill>
                  <a:srgbClr val="137C62"/>
                </a:solidFill>
              </a:rPr>
              <a:t>Subset</a:t>
            </a:r>
          </a:p>
        </p:txBody>
      </p:sp>
      <p:sp>
        <p:nvSpPr>
          <p:cNvPr id="6" name="Rectangle 5">
            <a:extLst>
              <a:ext uri="{FF2B5EF4-FFF2-40B4-BE49-F238E27FC236}">
                <a16:creationId xmlns:a16="http://schemas.microsoft.com/office/drawing/2014/main" id="{1038986C-9F39-4F4C-A4BC-6CDA6443C098}"/>
              </a:ext>
            </a:extLst>
          </p:cNvPr>
          <p:cNvSpPr>
            <a:spLocks noGrp="1"/>
          </p:cNvSpPr>
          <p:nvPr/>
        </p:nvSpPr>
        <p:spPr>
          <a:xfrm>
            <a:off x="6800850" y="1809750"/>
            <a:ext cx="2228850" cy="533400"/>
          </a:xfrm>
          <a:prstGeom prst="rect">
            <a:avLst/>
          </a:prstGeom>
          <a:noFill/>
          <a:ln w="0">
            <a:noFill/>
          </a:ln>
        </p:spPr>
        <p:txBody>
          <a:bodyPr/>
          <a:lstStyle/>
          <a:p>
            <a:pPr>
              <a:defRPr sz="1800" b="1">
                <a:solidFill>
                  <a:srgbClr val="137C62"/>
                </a:solidFill>
              </a:defRPr>
            </a:pPr>
            <a:r>
              <a:rPr sz="1800" b="1">
                <a:solidFill>
                  <a:srgbClr val="137C62"/>
                </a:solidFill>
              </a:rPr>
              <a:t>Images</a:t>
            </a:r>
          </a:p>
        </p:txBody>
      </p:sp>
      <p:sp>
        <p:nvSpPr>
          <p:cNvPr id="7" name="Rectangle 6">
            <a:extLst>
              <a:ext uri="{FF2B5EF4-FFF2-40B4-BE49-F238E27FC236}">
                <a16:creationId xmlns:a16="http://schemas.microsoft.com/office/drawing/2014/main" id="{676B4DEC-C448-4B7A-99E3-6214770E7F4B}"/>
              </a:ext>
            </a:extLst>
          </p:cNvPr>
          <p:cNvSpPr>
            <a:spLocks noGrp="1"/>
          </p:cNvSpPr>
          <p:nvPr/>
        </p:nvSpPr>
        <p:spPr>
          <a:xfrm>
            <a:off x="9182100" y="1809750"/>
            <a:ext cx="2247900" cy="533400"/>
          </a:xfrm>
          <a:prstGeom prst="rect">
            <a:avLst/>
          </a:prstGeom>
          <a:noFill/>
          <a:ln w="0">
            <a:noFill/>
          </a:ln>
        </p:spPr>
        <p:txBody>
          <a:bodyPr/>
          <a:lstStyle/>
          <a:p>
            <a:pPr>
              <a:defRPr sz="1800" b="1">
                <a:solidFill>
                  <a:srgbClr val="137C62"/>
                </a:solidFill>
              </a:defRPr>
            </a:pPr>
            <a:r>
              <a:rPr sz="1800" b="1">
                <a:solidFill>
                  <a:srgbClr val="137C62"/>
                </a:solidFill>
              </a:rPr>
              <a:t>Categories</a:t>
            </a:r>
          </a:p>
        </p:txBody>
      </p:sp>
      <p:sp>
        <p:nvSpPr>
          <p:cNvPr id="8" name="Rectangle 7">
            <a:extLst>
              <a:ext uri="{FF2B5EF4-FFF2-40B4-BE49-F238E27FC236}">
                <a16:creationId xmlns:a16="http://schemas.microsoft.com/office/drawing/2014/main" id="{C65A264B-36AF-4EF2-BA2E-3ED0608D4659}"/>
              </a:ext>
            </a:extLst>
          </p:cNvPr>
          <p:cNvSpPr>
            <a:spLocks noGrp="1"/>
          </p:cNvSpPr>
          <p:nvPr/>
        </p:nvSpPr>
        <p:spPr>
          <a:xfrm>
            <a:off x="609600" y="2409825"/>
            <a:ext cx="6038850" cy="533400"/>
          </a:xfrm>
          <a:prstGeom prst="rect">
            <a:avLst/>
          </a:prstGeom>
          <a:noFill/>
          <a:ln w="0">
            <a:noFill/>
          </a:ln>
        </p:spPr>
        <p:txBody>
          <a:bodyPr/>
          <a:lstStyle/>
          <a:p>
            <a:pPr>
              <a:defRPr sz="1950" b="0">
                <a:solidFill>
                  <a:srgbClr val="102B3B"/>
                </a:solidFill>
              </a:defRPr>
            </a:pPr>
            <a:r>
              <a:rPr sz="1950" b="0">
                <a:solidFill>
                  <a:srgbClr val="102B3B"/>
                </a:solidFill>
              </a:rPr>
              <a:t>Controlled validation</a:t>
            </a:r>
          </a:p>
        </p:txBody>
      </p:sp>
      <p:sp>
        <p:nvSpPr>
          <p:cNvPr id="9" name="Rectangle 8">
            <a:extLst>
              <a:ext uri="{FF2B5EF4-FFF2-40B4-BE49-F238E27FC236}">
                <a16:creationId xmlns:a16="http://schemas.microsoft.com/office/drawing/2014/main" id="{2D80E8CD-6435-494F-8070-9DC0033D998E}"/>
              </a:ext>
            </a:extLst>
          </p:cNvPr>
          <p:cNvSpPr>
            <a:spLocks noGrp="1"/>
          </p:cNvSpPr>
          <p:nvPr/>
        </p:nvSpPr>
        <p:spPr>
          <a:xfrm>
            <a:off x="6800850" y="2409825"/>
            <a:ext cx="2228850" cy="533400"/>
          </a:xfrm>
          <a:prstGeom prst="rect">
            <a:avLst/>
          </a:prstGeom>
          <a:noFill/>
          <a:ln w="0">
            <a:noFill/>
          </a:ln>
        </p:spPr>
        <p:txBody>
          <a:bodyPr/>
          <a:lstStyle/>
          <a:p>
            <a:pPr>
              <a:defRPr sz="1950" b="0">
                <a:solidFill>
                  <a:srgbClr val="102B3B"/>
                </a:solidFill>
              </a:defRPr>
            </a:pPr>
            <a:r>
              <a:rPr sz="1950" b="0">
                <a:solidFill>
                  <a:srgbClr val="102B3B"/>
                </a:solidFill>
              </a:rPr>
              <a:t>36,172</a:t>
            </a:r>
          </a:p>
        </p:txBody>
      </p:sp>
      <p:sp>
        <p:nvSpPr>
          <p:cNvPr id="10" name="Rectangle 9">
            <a:extLst>
              <a:ext uri="{FF2B5EF4-FFF2-40B4-BE49-F238E27FC236}">
                <a16:creationId xmlns:a16="http://schemas.microsoft.com/office/drawing/2014/main" id="{0E7CE23B-FBEE-467D-91B2-AFE97DA5D072}"/>
              </a:ext>
            </a:extLst>
          </p:cNvPr>
          <p:cNvSpPr>
            <a:spLocks noGrp="1"/>
          </p:cNvSpPr>
          <p:nvPr/>
        </p:nvSpPr>
        <p:spPr>
          <a:xfrm>
            <a:off x="9182100" y="2409825"/>
            <a:ext cx="2247900" cy="533400"/>
          </a:xfrm>
          <a:prstGeom prst="rect">
            <a:avLst/>
          </a:prstGeom>
          <a:noFill/>
          <a:ln w="0">
            <a:noFill/>
          </a:ln>
        </p:spPr>
        <p:txBody>
          <a:bodyPr/>
          <a:lstStyle/>
          <a:p>
            <a:pPr>
              <a:defRPr sz="1950" b="0">
                <a:solidFill>
                  <a:srgbClr val="102B3B"/>
                </a:solidFill>
              </a:defRPr>
            </a:pPr>
            <a:r>
              <a:rPr sz="1950" b="0">
                <a:solidFill>
                  <a:srgbClr val="102B3B"/>
                </a:solidFill>
              </a:rPr>
              <a:t>25</a:t>
            </a:r>
          </a:p>
        </p:txBody>
      </p:sp>
      <p:sp>
        <p:nvSpPr>
          <p:cNvPr id="11" name="Rectangle 10">
            <a:extLst>
              <a:ext uri="{FF2B5EF4-FFF2-40B4-BE49-F238E27FC236}">
                <a16:creationId xmlns:a16="http://schemas.microsoft.com/office/drawing/2014/main" id="{7AC2551D-54E7-4B9C-B997-DA597399C62F}"/>
              </a:ext>
            </a:extLst>
          </p:cNvPr>
          <p:cNvSpPr>
            <a:spLocks noGrp="1"/>
          </p:cNvSpPr>
          <p:nvPr/>
        </p:nvSpPr>
        <p:spPr>
          <a:xfrm>
            <a:off x="609600" y="2990850"/>
            <a:ext cx="6038850" cy="533400"/>
          </a:xfrm>
          <a:prstGeom prst="rect">
            <a:avLst/>
          </a:prstGeom>
          <a:noFill/>
          <a:ln w="0">
            <a:noFill/>
          </a:ln>
        </p:spPr>
        <p:txBody>
          <a:bodyPr/>
          <a:lstStyle/>
          <a:p>
            <a:pPr>
              <a:defRPr sz="1950" b="0">
                <a:solidFill>
                  <a:srgbClr val="102B3B"/>
                </a:solidFill>
              </a:defRPr>
            </a:pPr>
            <a:r>
              <a:rPr sz="1950" b="0">
                <a:solidFill>
                  <a:srgbClr val="102B3B"/>
                </a:solidFill>
              </a:rPr>
              <a:t>Natural validation</a:t>
            </a:r>
          </a:p>
        </p:txBody>
      </p:sp>
      <p:sp>
        <p:nvSpPr>
          <p:cNvPr id="12" name="Rectangle 11">
            <a:extLst>
              <a:ext uri="{FF2B5EF4-FFF2-40B4-BE49-F238E27FC236}">
                <a16:creationId xmlns:a16="http://schemas.microsoft.com/office/drawing/2014/main" id="{7EAB1D15-F790-4C8B-A39E-FE8B4207BAC0}"/>
              </a:ext>
            </a:extLst>
          </p:cNvPr>
          <p:cNvSpPr>
            <a:spLocks noGrp="1"/>
          </p:cNvSpPr>
          <p:nvPr/>
        </p:nvSpPr>
        <p:spPr>
          <a:xfrm>
            <a:off x="6800850" y="2990850"/>
            <a:ext cx="2228850" cy="533400"/>
          </a:xfrm>
          <a:prstGeom prst="rect">
            <a:avLst/>
          </a:prstGeom>
          <a:noFill/>
          <a:ln w="0">
            <a:noFill/>
          </a:ln>
        </p:spPr>
        <p:txBody>
          <a:bodyPr/>
          <a:lstStyle/>
          <a:p>
            <a:pPr>
              <a:defRPr sz="1950" b="0">
                <a:solidFill>
                  <a:srgbClr val="102B3B"/>
                </a:solidFill>
              </a:defRPr>
            </a:pPr>
            <a:r>
              <a:rPr sz="1950" b="0">
                <a:solidFill>
                  <a:srgbClr val="102B3B"/>
                </a:solidFill>
              </a:rPr>
              <a:t>81</a:t>
            </a:r>
          </a:p>
        </p:txBody>
      </p:sp>
      <p:sp>
        <p:nvSpPr>
          <p:cNvPr id="13" name="Rectangle 12">
            <a:extLst>
              <a:ext uri="{FF2B5EF4-FFF2-40B4-BE49-F238E27FC236}">
                <a16:creationId xmlns:a16="http://schemas.microsoft.com/office/drawing/2014/main" id="{47354323-6C9D-4325-8236-E8636B109731}"/>
              </a:ext>
            </a:extLst>
          </p:cNvPr>
          <p:cNvSpPr>
            <a:spLocks noGrp="1"/>
          </p:cNvSpPr>
          <p:nvPr/>
        </p:nvSpPr>
        <p:spPr>
          <a:xfrm>
            <a:off x="9182100" y="2990850"/>
            <a:ext cx="2247900" cy="533400"/>
          </a:xfrm>
          <a:prstGeom prst="rect">
            <a:avLst/>
          </a:prstGeom>
          <a:noFill/>
          <a:ln w="0">
            <a:noFill/>
          </a:ln>
        </p:spPr>
        <p:txBody>
          <a:bodyPr/>
          <a:lstStyle/>
          <a:p>
            <a:pPr>
              <a:defRPr sz="1950" b="0">
                <a:solidFill>
                  <a:srgbClr val="102B3B"/>
                </a:solidFill>
              </a:defRPr>
            </a:pPr>
            <a:r>
              <a:rPr sz="1950" b="0">
                <a:solidFill>
                  <a:srgbClr val="102B3B"/>
                </a:solidFill>
              </a:rPr>
              <a:t>25</a:t>
            </a:r>
          </a:p>
        </p:txBody>
      </p:sp>
      <p:sp>
        <p:nvSpPr>
          <p:cNvPr id="14" name="Rectangle 13">
            <a:extLst>
              <a:ext uri="{FF2B5EF4-FFF2-40B4-BE49-F238E27FC236}">
                <a16:creationId xmlns:a16="http://schemas.microsoft.com/office/drawing/2014/main" id="{9E57F948-585E-44AC-97CA-C7367D85E035}"/>
              </a:ext>
            </a:extLst>
          </p:cNvPr>
          <p:cNvSpPr>
            <a:spLocks noGrp="1"/>
          </p:cNvSpPr>
          <p:nvPr/>
        </p:nvSpPr>
        <p:spPr>
          <a:xfrm>
            <a:off x="609600" y="3571875"/>
            <a:ext cx="6038850" cy="533400"/>
          </a:xfrm>
          <a:prstGeom prst="rect">
            <a:avLst/>
          </a:prstGeom>
          <a:noFill/>
          <a:ln w="0">
            <a:noFill/>
          </a:ln>
        </p:spPr>
        <p:txBody>
          <a:bodyPr/>
          <a:lstStyle/>
          <a:p>
            <a:pPr>
              <a:defRPr sz="1950" b="0">
                <a:solidFill>
                  <a:srgbClr val="102B3B"/>
                </a:solidFill>
              </a:defRPr>
            </a:pPr>
            <a:r>
              <a:rPr sz="1950" b="0">
                <a:solidFill>
                  <a:srgbClr val="102B3B"/>
                </a:solidFill>
              </a:rPr>
              <a:t>Controlled test</a:t>
            </a:r>
          </a:p>
        </p:txBody>
      </p:sp>
      <p:sp>
        <p:nvSpPr>
          <p:cNvPr id="15" name="Rectangle 14">
            <a:extLst>
              <a:ext uri="{FF2B5EF4-FFF2-40B4-BE49-F238E27FC236}">
                <a16:creationId xmlns:a16="http://schemas.microsoft.com/office/drawing/2014/main" id="{BA75FC5F-778E-4507-99AD-AC28DCB4BCAB}"/>
              </a:ext>
            </a:extLst>
          </p:cNvPr>
          <p:cNvSpPr>
            <a:spLocks noGrp="1"/>
          </p:cNvSpPr>
          <p:nvPr/>
        </p:nvSpPr>
        <p:spPr>
          <a:xfrm>
            <a:off x="6800850" y="3571875"/>
            <a:ext cx="2228850" cy="533400"/>
          </a:xfrm>
          <a:prstGeom prst="rect">
            <a:avLst/>
          </a:prstGeom>
          <a:noFill/>
          <a:ln w="0">
            <a:noFill/>
          </a:ln>
        </p:spPr>
        <p:txBody>
          <a:bodyPr/>
          <a:lstStyle/>
          <a:p>
            <a:pPr>
              <a:defRPr sz="1950" b="0">
                <a:solidFill>
                  <a:srgbClr val="102B3B"/>
                </a:solidFill>
              </a:defRPr>
            </a:pPr>
            <a:r>
              <a:rPr sz="1950" b="0">
                <a:solidFill>
                  <a:srgbClr val="102B3B"/>
                </a:solidFill>
              </a:rPr>
              <a:t>47,875</a:t>
            </a:r>
          </a:p>
        </p:txBody>
      </p:sp>
      <p:sp>
        <p:nvSpPr>
          <p:cNvPr id="16" name="Rectangle 15">
            <a:extLst>
              <a:ext uri="{FF2B5EF4-FFF2-40B4-BE49-F238E27FC236}">
                <a16:creationId xmlns:a16="http://schemas.microsoft.com/office/drawing/2014/main" id="{02CF0176-18C8-4B55-A68A-1C897DBA8D1C}"/>
              </a:ext>
            </a:extLst>
          </p:cNvPr>
          <p:cNvSpPr>
            <a:spLocks noGrp="1"/>
          </p:cNvSpPr>
          <p:nvPr/>
        </p:nvSpPr>
        <p:spPr>
          <a:xfrm>
            <a:off x="9182100" y="3571875"/>
            <a:ext cx="2247900" cy="533400"/>
          </a:xfrm>
          <a:prstGeom prst="rect">
            <a:avLst/>
          </a:prstGeom>
          <a:noFill/>
          <a:ln w="0">
            <a:noFill/>
          </a:ln>
        </p:spPr>
        <p:txBody>
          <a:bodyPr/>
          <a:lstStyle/>
          <a:p>
            <a:pPr>
              <a:defRPr sz="1950" b="0">
                <a:solidFill>
                  <a:srgbClr val="102B3B"/>
                </a:solidFill>
              </a:defRPr>
            </a:pPr>
            <a:r>
              <a:rPr sz="1950" b="0">
                <a:solidFill>
                  <a:srgbClr val="102B3B"/>
                </a:solidFill>
              </a:rPr>
              <a:t>37</a:t>
            </a:r>
          </a:p>
        </p:txBody>
      </p:sp>
      <p:sp>
        <p:nvSpPr>
          <p:cNvPr id="17" name="Rectangle 16">
            <a:extLst>
              <a:ext uri="{FF2B5EF4-FFF2-40B4-BE49-F238E27FC236}">
                <a16:creationId xmlns:a16="http://schemas.microsoft.com/office/drawing/2014/main" id="{DC025EAB-7098-45BA-BDFA-70DA959BCDB4}"/>
              </a:ext>
            </a:extLst>
          </p:cNvPr>
          <p:cNvSpPr>
            <a:spLocks noGrp="1"/>
          </p:cNvSpPr>
          <p:nvPr/>
        </p:nvSpPr>
        <p:spPr>
          <a:xfrm>
            <a:off x="609600" y="4152900"/>
            <a:ext cx="6038850" cy="533400"/>
          </a:xfrm>
          <a:prstGeom prst="rect">
            <a:avLst/>
          </a:prstGeom>
          <a:noFill/>
          <a:ln w="0">
            <a:noFill/>
          </a:ln>
        </p:spPr>
        <p:txBody>
          <a:bodyPr/>
          <a:lstStyle/>
          <a:p>
            <a:pPr>
              <a:defRPr sz="1950" b="0">
                <a:solidFill>
                  <a:srgbClr val="102B3B"/>
                </a:solidFill>
              </a:defRPr>
            </a:pPr>
            <a:r>
              <a:rPr sz="1950" b="0">
                <a:solidFill>
                  <a:srgbClr val="102B3B"/>
                </a:solidFill>
              </a:rPr>
              <a:t>Natural test</a:t>
            </a:r>
          </a:p>
        </p:txBody>
      </p:sp>
      <p:sp>
        <p:nvSpPr>
          <p:cNvPr id="18" name="Rectangle 17">
            <a:extLst>
              <a:ext uri="{FF2B5EF4-FFF2-40B4-BE49-F238E27FC236}">
                <a16:creationId xmlns:a16="http://schemas.microsoft.com/office/drawing/2014/main" id="{4A972992-892D-4AFD-A78A-9CD6001551C7}"/>
              </a:ext>
            </a:extLst>
          </p:cNvPr>
          <p:cNvSpPr>
            <a:spLocks noGrp="1"/>
          </p:cNvSpPr>
          <p:nvPr/>
        </p:nvSpPr>
        <p:spPr>
          <a:xfrm>
            <a:off x="6800850" y="4152900"/>
            <a:ext cx="2228850" cy="533400"/>
          </a:xfrm>
          <a:prstGeom prst="rect">
            <a:avLst/>
          </a:prstGeom>
          <a:noFill/>
          <a:ln w="0">
            <a:noFill/>
          </a:ln>
        </p:spPr>
        <p:txBody>
          <a:bodyPr/>
          <a:lstStyle/>
          <a:p>
            <a:pPr>
              <a:defRPr sz="1950" b="0">
                <a:solidFill>
                  <a:srgbClr val="102B3B"/>
                </a:solidFill>
              </a:defRPr>
            </a:pPr>
            <a:r>
              <a:rPr sz="1950" b="0">
                <a:solidFill>
                  <a:srgbClr val="102B3B"/>
                </a:solidFill>
              </a:rPr>
              <a:t>116</a:t>
            </a:r>
          </a:p>
        </p:txBody>
      </p:sp>
      <p:sp>
        <p:nvSpPr>
          <p:cNvPr id="19" name="Rectangle 18">
            <a:extLst>
              <a:ext uri="{FF2B5EF4-FFF2-40B4-BE49-F238E27FC236}">
                <a16:creationId xmlns:a16="http://schemas.microsoft.com/office/drawing/2014/main" id="{B7F08CAC-01CC-4708-96BD-2963CC680ADB}"/>
              </a:ext>
            </a:extLst>
          </p:cNvPr>
          <p:cNvSpPr>
            <a:spLocks noGrp="1"/>
          </p:cNvSpPr>
          <p:nvPr/>
        </p:nvSpPr>
        <p:spPr>
          <a:xfrm>
            <a:off x="9182100" y="4152900"/>
            <a:ext cx="2247900" cy="533400"/>
          </a:xfrm>
          <a:prstGeom prst="rect">
            <a:avLst/>
          </a:prstGeom>
          <a:noFill/>
          <a:ln w="0">
            <a:noFill/>
          </a:ln>
        </p:spPr>
        <p:txBody>
          <a:bodyPr/>
          <a:lstStyle/>
          <a:p>
            <a:pPr>
              <a:defRPr sz="1950" b="0">
                <a:solidFill>
                  <a:srgbClr val="102B3B"/>
                </a:solidFill>
              </a:defRPr>
            </a:pPr>
            <a:r>
              <a:rPr sz="1950" b="0">
                <a:solidFill>
                  <a:srgbClr val="102B3B"/>
                </a:solidFill>
              </a:rPr>
              <a:t>17</a:t>
            </a:r>
          </a:p>
        </p:txBody>
      </p:sp>
      <p:sp>
        <p:nvSpPr>
          <p:cNvPr id="20" name="Rectangle 19">
            <a:extLst>
              <a:ext uri="{FF2B5EF4-FFF2-40B4-BE49-F238E27FC236}">
                <a16:creationId xmlns:a16="http://schemas.microsoft.com/office/drawing/2014/main" id="{7ED5A015-4F91-4C1F-9F0B-D785DC72A3F1}"/>
              </a:ext>
            </a:extLst>
          </p:cNvPr>
          <p:cNvSpPr>
            <a:spLocks noGrp="1"/>
          </p:cNvSpPr>
          <p:nvPr/>
        </p:nvSpPr>
        <p:spPr>
          <a:xfrm>
            <a:off x="609600" y="5010150"/>
            <a:ext cx="10972800" cy="666750"/>
          </a:xfrm>
          <a:prstGeom prst="rect">
            <a:avLst/>
          </a:prstGeom>
          <a:noFill/>
          <a:ln w="0">
            <a:noFill/>
          </a:ln>
        </p:spPr>
        <p:txBody>
          <a:bodyPr/>
          <a:lstStyle/>
          <a:p>
            <a:pPr>
              <a:defRPr sz="2175" b="1">
                <a:solidFill>
                  <a:srgbClr val="137C62"/>
                </a:solidFill>
              </a:defRPr>
            </a:pPr>
            <a:r>
              <a:rPr sz="2175" b="1">
                <a:solidFill>
                  <a:srgbClr val="137C62"/>
                </a:solidFill>
              </a:rPr>
              <a:t>Selection = lowest mean controlled / natural validation loss</a:t>
            </a:r>
          </a:p>
        </p:txBody>
      </p:sp>
      <p:sp>
        <p:nvSpPr>
          <p:cNvPr id="21" name="Rectangle 20">
            <a:extLst>
              <a:ext uri="{FF2B5EF4-FFF2-40B4-BE49-F238E27FC236}">
                <a16:creationId xmlns:a16="http://schemas.microsoft.com/office/drawing/2014/main" id="{C780346A-6D64-4D8A-8761-6CF7BF2288C9}"/>
              </a:ext>
            </a:extLst>
          </p:cNvPr>
          <p:cNvSpPr>
            <a:spLocks noGrp="1"/>
          </p:cNvSpPr>
          <p:nvPr/>
        </p:nvSpPr>
        <p:spPr>
          <a:xfrm>
            <a:off x="609600" y="5734050"/>
            <a:ext cx="10972800" cy="419100"/>
          </a:xfrm>
          <a:prstGeom prst="rect">
            <a:avLst/>
          </a:prstGeom>
          <a:noFill/>
          <a:ln w="0">
            <a:noFill/>
          </a:ln>
        </p:spPr>
        <p:txBody>
          <a:bodyPr/>
          <a:lstStyle/>
          <a:p>
            <a:pPr>
              <a:defRPr sz="1725" b="0">
                <a:solidFill>
                  <a:srgbClr val="526C75"/>
                </a:solidFill>
              </a:defRPr>
            </a:pPr>
            <a:r>
              <a:rPr sz="1725" b="0">
                <a:solidFill>
                  <a:srgbClr val="526C75"/>
                </a:solidFill>
              </a:rPr>
              <a:t>Accuracy, macro precision, recall and F1 are reported by domain.</a:t>
            </a:r>
          </a:p>
        </p:txBody>
      </p:sp>
    </p:spTree>
    <p:extLst>
      <p:ext uri="{BB962C8B-B14F-4D97-AF65-F5344CB8AC3E}">
        <p14:creationId xmlns:p14="http://schemas.microsoft.com/office/powerpoint/2010/main" val="16157136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60612D5-93EE-4D36-BF3A-E08448F6A3C4}"/>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06 / FINAL RESULTS</a:t>
            </a:r>
          </a:p>
        </p:txBody>
      </p:sp>
      <p:sp>
        <p:nvSpPr>
          <p:cNvPr id="2" name="Rectangle 1">
            <a:extLst>
              <a:ext uri="{FF2B5EF4-FFF2-40B4-BE49-F238E27FC236}">
                <a16:creationId xmlns:a16="http://schemas.microsoft.com/office/drawing/2014/main" id="{BA42ECF1-7E9C-4D97-8637-1FBBA7F84224}"/>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Transfer learning helps; reliability is limited</a:t>
            </a:r>
          </a:p>
        </p:txBody>
      </p:sp>
      <p:sp>
        <p:nvSpPr>
          <p:cNvPr id="3" name="Rectangle 2">
            <a:extLst>
              <a:ext uri="{FF2B5EF4-FFF2-40B4-BE49-F238E27FC236}">
                <a16:creationId xmlns:a16="http://schemas.microsoft.com/office/drawing/2014/main" id="{E6C617EE-8CDB-4403-A319-C5B6136D680E}"/>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2E31AC71-EC77-48BA-9F6A-CB73288DD98B}"/>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07</a:t>
            </a:r>
          </a:p>
        </p:txBody>
      </p:sp>
      <p:graphicFrame>
        <p:nvGraphicFramePr>
          <p:cNvPr id="15" name="Chart"/>
          <p:cNvGraphicFramePr/>
          <p:nvPr/>
        </p:nvGraphicFramePr>
        <p:xfrm>
          <a:off x="609600" y="1762125"/>
          <a:ext cx="6762750" cy="3857625"/>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8389928F-CCE1-4CFA-A810-6035DCF1A15C}"/>
              </a:ext>
            </a:extLst>
          </p:cNvPr>
          <p:cNvSpPr>
            <a:spLocks noGrp="1"/>
          </p:cNvSpPr>
          <p:nvPr/>
        </p:nvSpPr>
        <p:spPr>
          <a:xfrm>
            <a:off x="7867650" y="2000250"/>
            <a:ext cx="3714750" cy="333375"/>
          </a:xfrm>
          <a:prstGeom prst="rect">
            <a:avLst/>
          </a:prstGeom>
          <a:noFill/>
          <a:ln w="0">
            <a:noFill/>
          </a:ln>
        </p:spPr>
        <p:txBody>
          <a:bodyPr/>
          <a:lstStyle/>
          <a:p>
            <a:pPr>
              <a:defRPr sz="1425" b="1">
                <a:solidFill>
                  <a:srgbClr val="137C62"/>
                </a:solidFill>
              </a:defRPr>
            </a:pPr>
            <a:r>
              <a:rPr sz="1425" b="1">
                <a:solidFill>
                  <a:srgbClr val="137C62"/>
                </a:solidFill>
              </a:rPr>
              <a:t>SELECTED MODEL</a:t>
            </a:r>
          </a:p>
        </p:txBody>
      </p:sp>
      <p:sp>
        <p:nvSpPr>
          <p:cNvPr id="7" name="Rectangle 6">
            <a:extLst>
              <a:ext uri="{FF2B5EF4-FFF2-40B4-BE49-F238E27FC236}">
                <a16:creationId xmlns:a16="http://schemas.microsoft.com/office/drawing/2014/main" id="{5F974659-D658-4D65-912B-284FA3EF3D2F}"/>
              </a:ext>
            </a:extLst>
          </p:cNvPr>
          <p:cNvSpPr>
            <a:spLocks noGrp="1"/>
          </p:cNvSpPr>
          <p:nvPr/>
        </p:nvSpPr>
        <p:spPr>
          <a:xfrm>
            <a:off x="7867650" y="2476500"/>
            <a:ext cx="3619500" cy="1000125"/>
          </a:xfrm>
          <a:prstGeom prst="rect">
            <a:avLst/>
          </a:prstGeom>
          <a:noFill/>
          <a:ln w="0">
            <a:noFill/>
          </a:ln>
        </p:spPr>
        <p:txBody>
          <a:bodyPr/>
          <a:lstStyle/>
          <a:p>
            <a:pPr>
              <a:defRPr sz="2550" b="1">
                <a:solidFill>
                  <a:srgbClr val="102B3B"/>
                </a:solidFill>
              </a:defRPr>
            </a:pPr>
            <a:r>
              <a:rPr sz="2550" b="1">
                <a:solidFill>
                  <a:srgbClr val="102B3B"/>
                </a:solidFill>
              </a:rPr>
              <a:t>MobileNetV2</a:t>
            </a:r>
          </a:p>
          <a:p>
            <a:pPr>
              <a:defRPr sz="2550" b="1">
                <a:solidFill>
                  <a:srgbClr val="102B3B"/>
                </a:solidFill>
              </a:defRPr>
            </a:pPr>
            <a:r>
              <a:rPr sz="2550" b="1">
                <a:solidFill>
                  <a:srgbClr val="102B3B"/>
                </a:solidFill>
              </a:rPr>
              <a:t>Frozen base</a:t>
            </a:r>
          </a:p>
        </p:txBody>
      </p:sp>
      <p:sp>
        <p:nvSpPr>
          <p:cNvPr id="8" name="Rectangle 7">
            <a:extLst>
              <a:ext uri="{FF2B5EF4-FFF2-40B4-BE49-F238E27FC236}">
                <a16:creationId xmlns:a16="http://schemas.microsoft.com/office/drawing/2014/main" id="{C6FFC40C-9E77-45F9-8761-6A7A3B2FE89B}"/>
              </a:ext>
            </a:extLst>
          </p:cNvPr>
          <p:cNvSpPr>
            <a:spLocks noGrp="1"/>
          </p:cNvSpPr>
          <p:nvPr/>
        </p:nvSpPr>
        <p:spPr>
          <a:xfrm>
            <a:off x="7867650" y="3667125"/>
            <a:ext cx="3714750" cy="838200"/>
          </a:xfrm>
          <a:prstGeom prst="rect">
            <a:avLst/>
          </a:prstGeom>
          <a:noFill/>
          <a:ln w="0">
            <a:noFill/>
          </a:ln>
        </p:spPr>
        <p:txBody>
          <a:bodyPr/>
          <a:lstStyle/>
          <a:p>
            <a:pPr>
              <a:defRPr sz="4875" b="1">
                <a:solidFill>
                  <a:srgbClr val="137C62"/>
                </a:solidFill>
              </a:defRPr>
            </a:pPr>
            <a:r>
              <a:rPr sz="4875" b="1">
                <a:solidFill>
                  <a:srgbClr val="137C62"/>
                </a:solidFill>
              </a:rPr>
              <a:t>35.34%</a:t>
            </a:r>
          </a:p>
        </p:txBody>
      </p:sp>
      <p:sp>
        <p:nvSpPr>
          <p:cNvPr id="9" name="Rectangle 8">
            <a:extLst>
              <a:ext uri="{FF2B5EF4-FFF2-40B4-BE49-F238E27FC236}">
                <a16:creationId xmlns:a16="http://schemas.microsoft.com/office/drawing/2014/main" id="{2A01ED4F-4C3C-4992-94C3-13A78829ABDD}"/>
              </a:ext>
            </a:extLst>
          </p:cNvPr>
          <p:cNvSpPr>
            <a:spLocks noGrp="1"/>
          </p:cNvSpPr>
          <p:nvPr/>
        </p:nvSpPr>
        <p:spPr>
          <a:xfrm>
            <a:off x="7867650" y="4591050"/>
            <a:ext cx="3714750" cy="619125"/>
          </a:xfrm>
          <a:prstGeom prst="rect">
            <a:avLst/>
          </a:prstGeom>
          <a:noFill/>
          <a:ln w="0">
            <a:noFill/>
          </a:ln>
        </p:spPr>
        <p:txBody>
          <a:bodyPr/>
          <a:lstStyle/>
          <a:p>
            <a:pPr>
              <a:defRPr sz="1800" b="0">
                <a:solidFill>
                  <a:srgbClr val="526C75"/>
                </a:solidFill>
              </a:defRPr>
            </a:pPr>
            <a:r>
              <a:rPr sz="1800" b="0">
                <a:solidFill>
                  <a:srgbClr val="526C75"/>
                </a:solidFill>
              </a:rPr>
              <a:t>natural-photo test accuracy</a:t>
            </a:r>
          </a:p>
        </p:txBody>
      </p:sp>
      <p:sp>
        <p:nvSpPr>
          <p:cNvPr id="10" name="Rectangle 9">
            <a:extLst>
              <a:ext uri="{FF2B5EF4-FFF2-40B4-BE49-F238E27FC236}">
                <a16:creationId xmlns:a16="http://schemas.microsoft.com/office/drawing/2014/main" id="{19CC0C1B-314F-42AA-AD79-2190A64331B2}"/>
              </a:ext>
            </a:extLst>
          </p:cNvPr>
          <p:cNvSpPr>
            <a:spLocks noGrp="1"/>
          </p:cNvSpPr>
          <p:nvPr/>
        </p:nvSpPr>
        <p:spPr>
          <a:xfrm>
            <a:off x="609600" y="5819775"/>
            <a:ext cx="10972800" cy="371475"/>
          </a:xfrm>
          <a:prstGeom prst="rect">
            <a:avLst/>
          </a:prstGeom>
          <a:noFill/>
          <a:ln w="0">
            <a:noFill/>
          </a:ln>
        </p:spPr>
        <p:txBody>
          <a:bodyPr/>
          <a:lstStyle/>
          <a:p>
            <a:pPr>
              <a:defRPr sz="1725" b="0">
                <a:solidFill>
                  <a:srgbClr val="102B3B"/>
                </a:solidFill>
              </a:defRPr>
            </a:pPr>
            <a:r>
              <a:rPr sz="1725" b="0">
                <a:solidFill>
                  <a:srgbClr val="102B3B"/>
                </a:solidFill>
              </a:rPr>
              <a:t>Selected-model macro F1: 34.39% controlled • 25.17% natural</a:t>
            </a:r>
          </a:p>
        </p:txBody>
      </p:sp>
    </p:spTree>
    <p:extLst>
      <p:ext uri="{BB962C8B-B14F-4D97-AF65-F5344CB8AC3E}">
        <p14:creationId xmlns:p14="http://schemas.microsoft.com/office/powerpoint/2010/main" val="11894541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8CB45C8-3AD5-45B6-827A-6C9EC3CEA04C}"/>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07 / FRESHLENS APPLICATION</a:t>
            </a:r>
          </a:p>
        </p:txBody>
      </p:sp>
      <p:sp>
        <p:nvSpPr>
          <p:cNvPr id="2" name="Rectangle 1">
            <a:extLst>
              <a:ext uri="{FF2B5EF4-FFF2-40B4-BE49-F238E27FC236}">
                <a16:creationId xmlns:a16="http://schemas.microsoft.com/office/drawing/2014/main" id="{A84EEC3A-BC12-4FBF-BEA9-6E72EC191A7F}"/>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A working app with visible evidence</a:t>
            </a:r>
          </a:p>
        </p:txBody>
      </p:sp>
      <p:sp>
        <p:nvSpPr>
          <p:cNvPr id="3" name="Rectangle 2">
            <a:extLst>
              <a:ext uri="{FF2B5EF4-FFF2-40B4-BE49-F238E27FC236}">
                <a16:creationId xmlns:a16="http://schemas.microsoft.com/office/drawing/2014/main" id="{B903C12F-AACF-49C3-B1E9-18046CD24118}"/>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a:solidFill>
                  <a:srgbClr val="526C75"/>
                </a:solidFill>
              </a:rPr>
              <a:t>FRESHLENS  /  ITI SUMMER TRAINING</a:t>
            </a:r>
          </a:p>
        </p:txBody>
      </p:sp>
      <p:sp>
        <p:nvSpPr>
          <p:cNvPr id="4" name="Rectangle 3">
            <a:extLst>
              <a:ext uri="{FF2B5EF4-FFF2-40B4-BE49-F238E27FC236}">
                <a16:creationId xmlns:a16="http://schemas.microsoft.com/office/drawing/2014/main" id="{C8F0B358-863A-4066-9928-E14E771F9247}"/>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08</a:t>
            </a:r>
          </a:p>
        </p:txBody>
      </p:sp>
      <p:sp>
        <p:nvSpPr>
          <p:cNvPr id="5" name="Rectangle 4">
            <a:extLst>
              <a:ext uri="{FF2B5EF4-FFF2-40B4-BE49-F238E27FC236}">
                <a16:creationId xmlns:a16="http://schemas.microsoft.com/office/drawing/2014/main" id="{58355E96-C209-46F7-B9F0-24D5573CCB76}"/>
              </a:ext>
            </a:extLst>
          </p:cNvPr>
          <p:cNvSpPr>
            <a:spLocks noGrp="1"/>
          </p:cNvSpPr>
          <p:nvPr/>
        </p:nvSpPr>
        <p:spPr>
          <a:xfrm>
            <a:off x="609600" y="1885950"/>
            <a:ext cx="4953000" cy="476250"/>
          </a:xfrm>
          <a:prstGeom prst="rect">
            <a:avLst/>
          </a:prstGeom>
          <a:noFill/>
          <a:ln w="0">
            <a:noFill/>
          </a:ln>
        </p:spPr>
        <p:txBody>
          <a:bodyPr/>
          <a:lstStyle/>
          <a:p>
            <a:pPr>
              <a:defRPr sz="2550" b="1">
                <a:solidFill>
                  <a:srgbClr val="137C62"/>
                </a:solidFill>
              </a:defRPr>
            </a:pPr>
            <a:r>
              <a:rPr sz="2550" b="1">
                <a:solidFill>
                  <a:srgbClr val="137C62"/>
                </a:solidFill>
              </a:rPr>
              <a:t>Recognize</a:t>
            </a:r>
          </a:p>
        </p:txBody>
      </p:sp>
      <p:sp>
        <p:nvSpPr>
          <p:cNvPr id="6" name="Rectangle 5">
            <a:extLst>
              <a:ext uri="{FF2B5EF4-FFF2-40B4-BE49-F238E27FC236}">
                <a16:creationId xmlns:a16="http://schemas.microsoft.com/office/drawing/2014/main" id="{C7F4E8DD-CF41-4494-A3EC-5050D5E48C88}"/>
              </a:ext>
            </a:extLst>
          </p:cNvPr>
          <p:cNvSpPr>
            <a:spLocks noGrp="1"/>
          </p:cNvSpPr>
          <p:nvPr/>
        </p:nvSpPr>
        <p:spPr>
          <a:xfrm>
            <a:off x="609600" y="2524125"/>
            <a:ext cx="4953000" cy="1428750"/>
          </a:xfrm>
          <a:prstGeom prst="rect">
            <a:avLst/>
          </a:prstGeom>
          <a:noFill/>
          <a:ln w="0">
            <a:noFill/>
          </a:ln>
        </p:spPr>
        <p:txBody>
          <a:bodyPr/>
          <a:lstStyle/>
          <a:p>
            <a:pPr>
              <a:defRPr sz="2100" b="0">
                <a:solidFill>
                  <a:srgbClr val="102B3B"/>
                </a:solidFill>
              </a:defRPr>
            </a:pPr>
            <a:r>
              <a:rPr sz="2100" b="0">
                <a:solidFill>
                  <a:srgbClr val="102B3B"/>
                </a:solidFill>
              </a:rPr>
              <a:t>Upload one product image</a:t>
            </a:r>
          </a:p>
          <a:p>
            <a:pPr>
              <a:defRPr sz="2100" b="0">
                <a:solidFill>
                  <a:srgbClr val="102B3B"/>
                </a:solidFill>
              </a:defRPr>
            </a:pPr>
            <a:r>
              <a:rPr sz="2100" b="0">
                <a:solidFill>
                  <a:srgbClr val="102B3B"/>
                </a:solidFill>
              </a:rPr>
              <a:t>View the top three predictions</a:t>
            </a:r>
          </a:p>
          <a:p>
            <a:pPr>
              <a:defRPr sz="2100" b="0">
                <a:solidFill>
                  <a:srgbClr val="102B3B"/>
                </a:solidFill>
              </a:defRPr>
            </a:pPr>
            <a:r>
              <a:rPr sz="2100" b="0">
                <a:solidFill>
                  <a:srgbClr val="102B3B"/>
                </a:solidFill>
              </a:rPr>
              <a:t>Run locally on CPU</a:t>
            </a:r>
          </a:p>
        </p:txBody>
      </p:sp>
      <p:sp>
        <p:nvSpPr>
          <p:cNvPr id="7" name="Rectangle 6">
            <a:extLst>
              <a:ext uri="{FF2B5EF4-FFF2-40B4-BE49-F238E27FC236}">
                <a16:creationId xmlns:a16="http://schemas.microsoft.com/office/drawing/2014/main" id="{80E9A928-B417-434D-8176-A172C0AC02D3}"/>
              </a:ext>
            </a:extLst>
          </p:cNvPr>
          <p:cNvSpPr>
            <a:spLocks noGrp="1"/>
          </p:cNvSpPr>
          <p:nvPr/>
        </p:nvSpPr>
        <p:spPr>
          <a:xfrm>
            <a:off x="609600" y="4248150"/>
            <a:ext cx="4953000" cy="476250"/>
          </a:xfrm>
          <a:prstGeom prst="rect">
            <a:avLst/>
          </a:prstGeom>
          <a:noFill/>
          <a:ln w="0">
            <a:noFill/>
          </a:ln>
        </p:spPr>
        <p:txBody>
          <a:bodyPr/>
          <a:lstStyle/>
          <a:p>
            <a:pPr>
              <a:defRPr sz="2550" b="1">
                <a:solidFill>
                  <a:srgbClr val="137C62"/>
                </a:solidFill>
              </a:defRPr>
            </a:pPr>
            <a:r>
              <a:rPr sz="2550" b="1">
                <a:solidFill>
                  <a:srgbClr val="137C62"/>
                </a:solidFill>
              </a:rPr>
              <a:t>Explore</a:t>
            </a:r>
          </a:p>
        </p:txBody>
      </p:sp>
      <p:sp>
        <p:nvSpPr>
          <p:cNvPr id="8" name="Rectangle 7">
            <a:extLst>
              <a:ext uri="{FF2B5EF4-FFF2-40B4-BE49-F238E27FC236}">
                <a16:creationId xmlns:a16="http://schemas.microsoft.com/office/drawing/2014/main" id="{9AE4C5E6-0AEB-465A-9765-BC01A13089B7}"/>
              </a:ext>
            </a:extLst>
          </p:cNvPr>
          <p:cNvSpPr>
            <a:spLocks noGrp="1"/>
          </p:cNvSpPr>
          <p:nvPr/>
        </p:nvSpPr>
        <p:spPr>
          <a:xfrm>
            <a:off x="609600" y="4857750"/>
            <a:ext cx="5334000" cy="1238250"/>
          </a:xfrm>
          <a:prstGeom prst="rect">
            <a:avLst/>
          </a:prstGeom>
          <a:noFill/>
          <a:ln w="0">
            <a:noFill/>
          </a:ln>
        </p:spPr>
        <p:txBody>
          <a:bodyPr/>
          <a:lstStyle/>
          <a:p>
            <a:pPr>
              <a:defRPr sz="1875" b="0">
                <a:solidFill>
                  <a:srgbClr val="102B3B"/>
                </a:solidFill>
              </a:defRPr>
            </a:pPr>
            <a:r>
              <a:rPr sz="1875" b="0">
                <a:solidFill>
                  <a:srgbClr val="102B3B"/>
                </a:solidFill>
              </a:rPr>
              <a:t>Light and Dark modes</a:t>
            </a:r>
          </a:p>
          <a:p>
            <a:pPr>
              <a:defRPr sz="1875" b="0">
                <a:solidFill>
                  <a:srgbClr val="102B3B"/>
                </a:solidFill>
              </a:defRPr>
            </a:pPr>
            <a:r>
              <a:rPr sz="1875" b="0">
                <a:solidFill>
                  <a:srgbClr val="102B3B"/>
                </a:solidFill>
              </a:rPr>
              <a:t>Model comparisons and learning curves</a:t>
            </a:r>
          </a:p>
          <a:p>
            <a:pPr>
              <a:defRPr sz="1875" b="0">
                <a:solidFill>
                  <a:srgbClr val="102B3B"/>
                </a:solidFill>
              </a:defRPr>
            </a:pPr>
            <a:r>
              <a:rPr sz="1875" b="0">
                <a:solidFill>
                  <a:srgbClr val="102B3B"/>
                </a:solidFill>
              </a:rPr>
              <a:t>Confusion matrices and error examples</a:t>
            </a:r>
          </a:p>
        </p:txBody>
      </p:sp>
      <p:pic>
        <p:nvPicPr>
          <p:cNvPr id="19" name="Picture 18"/>
          <p:cNvPicPr>
            <a:picLocks noChangeAspect="1"/>
          </p:cNvPicPr>
          <p:nvPr/>
        </p:nvPicPr>
        <p:blipFill>
          <a:blip r:embed="rId3"/>
          <a:stretch/>
        </p:blipFill>
        <p:spPr>
          <a:xfrm>
            <a:off x="6715125" y="1837226"/>
            <a:ext cx="4572000" cy="3516923"/>
          </a:xfrm>
          <a:prstGeom prst="rect">
            <a:avLst/>
          </a:prstGeom>
        </p:spPr>
      </p:pic>
      <p:sp>
        <p:nvSpPr>
          <p:cNvPr id="10" name="Rectangle 9">
            <a:extLst>
              <a:ext uri="{FF2B5EF4-FFF2-40B4-BE49-F238E27FC236}">
                <a16:creationId xmlns:a16="http://schemas.microsoft.com/office/drawing/2014/main" id="{BAF81637-D16C-4EE9-9540-D6DDE15DFB32}"/>
              </a:ext>
            </a:extLst>
          </p:cNvPr>
          <p:cNvSpPr>
            <a:spLocks noGrp="1"/>
          </p:cNvSpPr>
          <p:nvPr/>
        </p:nvSpPr>
        <p:spPr>
          <a:xfrm>
            <a:off x="6715125" y="5572125"/>
            <a:ext cx="4667250" cy="495300"/>
          </a:xfrm>
          <a:prstGeom prst="rect">
            <a:avLst/>
          </a:prstGeom>
          <a:noFill/>
          <a:ln w="0">
            <a:noFill/>
          </a:ln>
        </p:spPr>
        <p:txBody>
          <a:bodyPr/>
          <a:lstStyle/>
          <a:p>
            <a:pPr>
              <a:defRPr sz="1575" b="0">
                <a:solidFill>
                  <a:srgbClr val="526C75"/>
                </a:solidFill>
              </a:defRPr>
            </a:pPr>
            <a:r>
              <a:rPr sz="1575" b="0">
                <a:solidFill>
                  <a:srgbClr val="526C75"/>
                </a:solidFill>
              </a:rPr>
              <a:t>Actual exported prediction-error evidence</a:t>
            </a:r>
          </a:p>
        </p:txBody>
      </p:sp>
    </p:spTree>
    <p:extLst>
      <p:ext uri="{BB962C8B-B14F-4D97-AF65-F5344CB8AC3E}">
        <p14:creationId xmlns:p14="http://schemas.microsoft.com/office/powerpoint/2010/main" val="1644362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02B3B"/>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09D10F-888D-4877-9C21-7CE727AA91B8}"/>
              </a:ext>
            </a:extLst>
          </p:cNvPr>
          <p:cNvSpPr>
            <a:spLocks noGrp="1"/>
          </p:cNvSpPr>
          <p:nvPr/>
        </p:nvSpPr>
        <p:spPr>
          <a:xfrm>
            <a:off x="609600" y="323850"/>
            <a:ext cx="10477500" cy="285750"/>
          </a:xfrm>
          <a:prstGeom prst="rect">
            <a:avLst/>
          </a:prstGeom>
          <a:noFill/>
          <a:ln w="0">
            <a:noFill/>
          </a:ln>
        </p:spPr>
        <p:txBody>
          <a:bodyPr/>
          <a:lstStyle/>
          <a:p>
            <a:pPr>
              <a:defRPr sz="1350" b="1">
                <a:solidFill>
                  <a:srgbClr val="67D5AC"/>
                </a:solidFill>
              </a:defRPr>
            </a:pPr>
            <a:r>
              <a:rPr sz="1350" b="1">
                <a:solidFill>
                  <a:srgbClr val="67D5AC"/>
                </a:solidFill>
              </a:rPr>
              <a:t>08 / BUSINESS IMPACT</a:t>
            </a:r>
          </a:p>
        </p:txBody>
      </p:sp>
      <p:sp>
        <p:nvSpPr>
          <p:cNvPr id="2" name="Rectangle 1">
            <a:extLst>
              <a:ext uri="{FF2B5EF4-FFF2-40B4-BE49-F238E27FC236}">
                <a16:creationId xmlns:a16="http://schemas.microsoft.com/office/drawing/2014/main" id="{B98A28BA-9FC1-4F78-9BD8-C772C6CA0385}"/>
              </a:ext>
            </a:extLst>
          </p:cNvPr>
          <p:cNvSpPr>
            <a:spLocks noGrp="1"/>
          </p:cNvSpPr>
          <p:nvPr/>
        </p:nvSpPr>
        <p:spPr>
          <a:xfrm>
            <a:off x="609600" y="828675"/>
            <a:ext cx="10972800" cy="876300"/>
          </a:xfrm>
          <a:prstGeom prst="rect">
            <a:avLst/>
          </a:prstGeom>
          <a:noFill/>
          <a:ln w="0">
            <a:noFill/>
          </a:ln>
        </p:spPr>
        <p:txBody>
          <a:bodyPr/>
          <a:lstStyle/>
          <a:p>
            <a:pPr>
              <a:defRPr sz="3450" b="1">
                <a:solidFill>
                  <a:srgbClr val="FFFFFF"/>
                </a:solidFill>
              </a:defRPr>
            </a:pPr>
            <a:r>
              <a:rPr sz="3450" b="1">
                <a:solidFill>
                  <a:srgbClr val="FFFFFF"/>
                </a:solidFill>
              </a:rPr>
              <a:t>Potential value requires human review</a:t>
            </a:r>
          </a:p>
        </p:txBody>
      </p:sp>
      <p:sp>
        <p:nvSpPr>
          <p:cNvPr id="3" name="Rectangle 2">
            <a:extLst>
              <a:ext uri="{FF2B5EF4-FFF2-40B4-BE49-F238E27FC236}">
                <a16:creationId xmlns:a16="http://schemas.microsoft.com/office/drawing/2014/main" id="{75D75260-6910-43E7-BB1B-30D4F81F4C61}"/>
              </a:ext>
            </a:extLst>
          </p:cNvPr>
          <p:cNvSpPr>
            <a:spLocks noGrp="1"/>
          </p:cNvSpPr>
          <p:nvPr/>
        </p:nvSpPr>
        <p:spPr>
          <a:xfrm>
            <a:off x="609600" y="6381750"/>
            <a:ext cx="9048750" cy="238125"/>
          </a:xfrm>
          <a:prstGeom prst="rect">
            <a:avLst/>
          </a:prstGeom>
          <a:noFill/>
          <a:ln w="0">
            <a:noFill/>
          </a:ln>
        </p:spPr>
        <p:txBody>
          <a:bodyPr/>
          <a:lstStyle/>
          <a:p>
            <a:pPr>
              <a:defRPr sz="1200" b="0">
                <a:solidFill>
                  <a:srgbClr val="AFC8CB"/>
                </a:solidFill>
              </a:defRPr>
            </a:pPr>
            <a:r>
              <a:rPr sz="1200" b="0">
                <a:solidFill>
                  <a:srgbClr val="AFC8CB"/>
                </a:solidFill>
              </a:rPr>
              <a:t>FRESHLENS  /  ITI SUMMER TRAINING</a:t>
            </a:r>
          </a:p>
        </p:txBody>
      </p:sp>
      <p:sp>
        <p:nvSpPr>
          <p:cNvPr id="4" name="Rectangle 3">
            <a:extLst>
              <a:ext uri="{FF2B5EF4-FFF2-40B4-BE49-F238E27FC236}">
                <a16:creationId xmlns:a16="http://schemas.microsoft.com/office/drawing/2014/main" id="{FA22C2D1-8508-44A1-9D95-7E8915766BD1}"/>
              </a:ext>
            </a:extLst>
          </p:cNvPr>
          <p:cNvSpPr>
            <a:spLocks noGrp="1"/>
          </p:cNvSpPr>
          <p:nvPr/>
        </p:nvSpPr>
        <p:spPr>
          <a:xfrm>
            <a:off x="11049000" y="6334125"/>
            <a:ext cx="533400" cy="285750"/>
          </a:xfrm>
          <a:prstGeom prst="rect">
            <a:avLst/>
          </a:prstGeom>
          <a:noFill/>
          <a:ln w="0">
            <a:noFill/>
          </a:ln>
        </p:spPr>
        <p:txBody>
          <a:bodyPr/>
          <a:lstStyle/>
          <a:p>
            <a:pPr>
              <a:defRPr sz="1500" b="1">
                <a:solidFill>
                  <a:srgbClr val="67D5AC"/>
                </a:solidFill>
              </a:defRPr>
            </a:pPr>
            <a:r>
              <a:rPr sz="1500" b="1">
                <a:solidFill>
                  <a:srgbClr val="67D5AC"/>
                </a:solidFill>
              </a:rPr>
              <a:t>09</a:t>
            </a:r>
          </a:p>
        </p:txBody>
      </p:sp>
      <p:sp>
        <p:nvSpPr>
          <p:cNvPr id="5" name="Rectangle 4">
            <a:extLst>
              <a:ext uri="{FF2B5EF4-FFF2-40B4-BE49-F238E27FC236}">
                <a16:creationId xmlns:a16="http://schemas.microsoft.com/office/drawing/2014/main" id="{DB677D8A-50AB-45FC-9DF0-36E02820BB42}"/>
              </a:ext>
            </a:extLst>
          </p:cNvPr>
          <p:cNvSpPr>
            <a:spLocks noGrp="1"/>
          </p:cNvSpPr>
          <p:nvPr/>
        </p:nvSpPr>
        <p:spPr>
          <a:xfrm>
            <a:off x="609600" y="2000250"/>
            <a:ext cx="5048250" cy="523875"/>
          </a:xfrm>
          <a:prstGeom prst="rect">
            <a:avLst/>
          </a:prstGeom>
          <a:noFill/>
          <a:ln w="0">
            <a:noFill/>
          </a:ln>
        </p:spPr>
        <p:txBody>
          <a:bodyPr/>
          <a:lstStyle/>
          <a:p>
            <a:pPr>
              <a:defRPr sz="2550" b="1">
                <a:solidFill>
                  <a:srgbClr val="67D5AC"/>
                </a:solidFill>
              </a:defRPr>
            </a:pPr>
            <a:r>
              <a:rPr sz="2550" b="1">
                <a:solidFill>
                  <a:srgbClr val="67D5AC"/>
                </a:solidFill>
              </a:rPr>
              <a:t>Potential uses</a:t>
            </a:r>
          </a:p>
        </p:txBody>
      </p:sp>
      <p:sp>
        <p:nvSpPr>
          <p:cNvPr id="6" name="Rectangle 5">
            <a:extLst>
              <a:ext uri="{FF2B5EF4-FFF2-40B4-BE49-F238E27FC236}">
                <a16:creationId xmlns:a16="http://schemas.microsoft.com/office/drawing/2014/main" id="{DE88DC6A-0B80-44CD-BC61-E8876EB8DFE0}"/>
              </a:ext>
            </a:extLst>
          </p:cNvPr>
          <p:cNvSpPr>
            <a:spLocks noGrp="1"/>
          </p:cNvSpPr>
          <p:nvPr/>
        </p:nvSpPr>
        <p:spPr>
          <a:xfrm>
            <a:off x="609600" y="2886075"/>
            <a:ext cx="5048250" cy="2428875"/>
          </a:xfrm>
          <a:prstGeom prst="rect">
            <a:avLst/>
          </a:prstGeom>
          <a:noFill/>
          <a:ln w="0">
            <a:noFill/>
          </a:ln>
        </p:spPr>
        <p:txBody>
          <a:bodyPr/>
          <a:lstStyle/>
          <a:p>
            <a:pPr>
              <a:defRPr sz="2250" b="0">
                <a:solidFill>
                  <a:srgbClr val="FFFFFF"/>
                </a:solidFill>
              </a:defRPr>
            </a:pPr>
            <a:r>
              <a:rPr sz="2250" b="0">
                <a:solidFill>
                  <a:srgbClr val="FFFFFF"/>
                </a:solidFill>
              </a:rPr>
              <a:t>Assist product lookup</a:t>
            </a:r>
          </a:p>
          <a:p>
            <a:endParaRPr sz="2250" b="0">
              <a:solidFill>
                <a:srgbClr val="FFFFFF"/>
              </a:solidFill>
            </a:endParaRPr>
          </a:p>
          <a:p>
            <a:pPr>
              <a:defRPr sz="2250" b="0">
                <a:solidFill>
                  <a:srgbClr val="FFFFFF"/>
                </a:solidFill>
              </a:defRPr>
            </a:pPr>
            <a:r>
              <a:rPr sz="2250" b="0">
                <a:solidFill>
                  <a:srgbClr val="FFFFFF"/>
                </a:solidFill>
              </a:rPr>
              <a:t>Support image labeling</a:t>
            </a:r>
          </a:p>
          <a:p>
            <a:endParaRPr sz="2250" b="0">
              <a:solidFill>
                <a:srgbClr val="FFFFFF"/>
              </a:solidFill>
            </a:endParaRPr>
          </a:p>
          <a:p>
            <a:pPr>
              <a:defRPr sz="2250" b="0">
                <a:solidFill>
                  <a:srgbClr val="FFFFFF"/>
                </a:solidFill>
              </a:defRPr>
            </a:pPr>
            <a:r>
              <a:rPr sz="2250" b="0">
                <a:solidFill>
                  <a:srgbClr val="FFFFFF"/>
                </a:solidFill>
              </a:rPr>
              <a:t>Organize retail catalogs</a:t>
            </a:r>
          </a:p>
        </p:txBody>
      </p:sp>
      <p:sp>
        <p:nvSpPr>
          <p:cNvPr id="7" name="Rectangle 6">
            <a:extLst>
              <a:ext uri="{FF2B5EF4-FFF2-40B4-BE49-F238E27FC236}">
                <a16:creationId xmlns:a16="http://schemas.microsoft.com/office/drawing/2014/main" id="{4CE9517F-A2E5-4A30-BB0C-82742776076A}"/>
              </a:ext>
            </a:extLst>
          </p:cNvPr>
          <p:cNvSpPr>
            <a:spLocks noGrp="1"/>
          </p:cNvSpPr>
          <p:nvPr/>
        </p:nvSpPr>
        <p:spPr>
          <a:xfrm>
            <a:off x="6572250" y="2000250"/>
            <a:ext cx="5000625" cy="523875"/>
          </a:xfrm>
          <a:prstGeom prst="rect">
            <a:avLst/>
          </a:prstGeom>
          <a:noFill/>
          <a:ln w="0">
            <a:noFill/>
          </a:ln>
        </p:spPr>
        <p:txBody>
          <a:bodyPr/>
          <a:lstStyle/>
          <a:p>
            <a:pPr>
              <a:defRPr sz="2550" b="1">
                <a:solidFill>
                  <a:srgbClr val="F4B34D"/>
                </a:solidFill>
              </a:defRPr>
            </a:pPr>
            <a:r>
              <a:rPr sz="2550" b="1">
                <a:solidFill>
                  <a:srgbClr val="F4B34D"/>
                </a:solidFill>
              </a:rPr>
              <a:t>Current limits</a:t>
            </a:r>
          </a:p>
        </p:txBody>
      </p:sp>
      <p:sp>
        <p:nvSpPr>
          <p:cNvPr id="8" name="Rectangle 7">
            <a:extLst>
              <a:ext uri="{FF2B5EF4-FFF2-40B4-BE49-F238E27FC236}">
                <a16:creationId xmlns:a16="http://schemas.microsoft.com/office/drawing/2014/main" id="{A1E94519-5663-49C7-9AD0-87EB704B6F1E}"/>
              </a:ext>
            </a:extLst>
          </p:cNvPr>
          <p:cNvSpPr>
            <a:spLocks noGrp="1"/>
          </p:cNvSpPr>
          <p:nvPr/>
        </p:nvSpPr>
        <p:spPr>
          <a:xfrm>
            <a:off x="6572250" y="2886075"/>
            <a:ext cx="5000625" cy="2428875"/>
          </a:xfrm>
          <a:prstGeom prst="rect">
            <a:avLst/>
          </a:prstGeom>
          <a:noFill/>
          <a:ln w="0">
            <a:noFill/>
          </a:ln>
        </p:spPr>
        <p:txBody>
          <a:bodyPr/>
          <a:lstStyle/>
          <a:p>
            <a:pPr>
              <a:defRPr sz="2025" b="0">
                <a:solidFill>
                  <a:srgbClr val="FFFFFF"/>
                </a:solidFill>
              </a:defRPr>
            </a:pPr>
            <a:r>
              <a:rPr sz="2025" b="0">
                <a:solidFill>
                  <a:srgbClr val="FFFFFF"/>
                </a:solidFill>
              </a:rPr>
              <a:t>Limited accuracy on natural photos</a:t>
            </a:r>
          </a:p>
          <a:p>
            <a:endParaRPr sz="2025" b="0">
              <a:solidFill>
                <a:srgbClr val="FFFFFF"/>
              </a:solidFill>
            </a:endParaRPr>
          </a:p>
          <a:p>
            <a:pPr>
              <a:defRPr sz="2025" b="0">
                <a:solidFill>
                  <a:srgbClr val="FFFFFF"/>
                </a:solidFill>
              </a:defRPr>
            </a:pPr>
            <a:r>
              <a:rPr sz="2025" b="0">
                <a:solidFill>
                  <a:srgbClr val="FFFFFF"/>
                </a:solidFill>
              </a:rPr>
              <a:t>No trained unknown-product category</a:t>
            </a:r>
          </a:p>
          <a:p>
            <a:endParaRPr sz="2025" b="0">
              <a:solidFill>
                <a:srgbClr val="FFFFFF"/>
              </a:solidFill>
            </a:endParaRPr>
          </a:p>
          <a:p>
            <a:pPr>
              <a:defRPr sz="2025" b="0">
                <a:solidFill>
                  <a:srgbClr val="FFFFFF"/>
                </a:solidFill>
              </a:defRPr>
            </a:pPr>
            <a:r>
              <a:rPr sz="2025" b="0">
                <a:solidFill>
                  <a:srgbClr val="FFFFFF"/>
                </a:solidFill>
              </a:rPr>
              <a:t>No detection or inventory counting</a:t>
            </a:r>
          </a:p>
        </p:txBody>
      </p:sp>
      <p:sp>
        <p:nvSpPr>
          <p:cNvPr id="9" name="Rectangle 8">
            <a:extLst>
              <a:ext uri="{FF2B5EF4-FFF2-40B4-BE49-F238E27FC236}">
                <a16:creationId xmlns:a16="http://schemas.microsoft.com/office/drawing/2014/main" id="{127F70A5-F564-4FFE-8ABF-A81D02F3134E}"/>
              </a:ext>
            </a:extLst>
          </p:cNvPr>
          <p:cNvSpPr>
            <a:spLocks noGrp="1"/>
          </p:cNvSpPr>
          <p:nvPr/>
        </p:nvSpPr>
        <p:spPr>
          <a:xfrm>
            <a:off x="609600" y="5810250"/>
            <a:ext cx="10972800" cy="428625"/>
          </a:xfrm>
          <a:prstGeom prst="rect">
            <a:avLst/>
          </a:prstGeom>
          <a:noFill/>
          <a:ln w="0">
            <a:noFill/>
          </a:ln>
        </p:spPr>
        <p:txBody>
          <a:bodyPr/>
          <a:lstStyle/>
          <a:p>
            <a:pPr>
              <a:defRPr sz="1875" b="1">
                <a:solidFill>
                  <a:srgbClr val="67D5AC"/>
                </a:solidFill>
              </a:defRPr>
            </a:pPr>
            <a:r>
              <a:rPr sz="1875" b="1" dirty="0">
                <a:solidFill>
                  <a:srgbClr val="67D5AC"/>
                </a:solidFill>
              </a:rPr>
              <a:t>No retail deployment or cost savings were measured.</a:t>
            </a:r>
          </a:p>
        </p:txBody>
      </p:sp>
      <p:sp>
        <p:nvSpPr>
          <p:cNvPr id="11" name="TextBox 10">
            <a:extLst>
              <a:ext uri="{FF2B5EF4-FFF2-40B4-BE49-F238E27FC236}">
                <a16:creationId xmlns:a16="http://schemas.microsoft.com/office/drawing/2014/main" id="{02F7F0B0-DE22-1B94-87B7-79B63E00B3D9}"/>
              </a:ext>
            </a:extLst>
          </p:cNvPr>
          <p:cNvSpPr txBox="1"/>
          <p:nvPr/>
        </p:nvSpPr>
        <p:spPr>
          <a:xfrm>
            <a:off x="186813" y="5643716"/>
            <a:ext cx="184731" cy="646331"/>
          </a:xfrm>
          <a:prstGeom prst="rect">
            <a:avLst/>
          </a:prstGeom>
          <a:noFill/>
        </p:spPr>
        <p:txBody>
          <a:bodyPr wrap="none" rtlCol="0">
            <a:spAutoFit/>
          </a:bodyPr>
          <a:lstStyle/>
          <a:p>
            <a:endParaRPr lang="ar-EG" dirty="0"/>
          </a:p>
          <a:p>
            <a:endParaRPr lang="en-US" dirty="0"/>
          </a:p>
        </p:txBody>
      </p:sp>
    </p:spTree>
    <p:extLst>
      <p:ext uri="{BB962C8B-B14F-4D97-AF65-F5344CB8AC3E}">
        <p14:creationId xmlns:p14="http://schemas.microsoft.com/office/powerpoint/2010/main" val="7821655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8F7"/>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EA8AB019-8346-4C28-B8B7-63807E6553AA}"/>
              </a:ext>
            </a:extLst>
          </p:cNvPr>
          <p:cNvSpPr>
            <a:spLocks noGrp="1"/>
          </p:cNvSpPr>
          <p:nvPr/>
        </p:nvSpPr>
        <p:spPr>
          <a:xfrm>
            <a:off x="609600" y="323850"/>
            <a:ext cx="10477500" cy="285750"/>
          </a:xfrm>
          <a:prstGeom prst="rect">
            <a:avLst/>
          </a:prstGeom>
          <a:noFill/>
          <a:ln w="0">
            <a:noFill/>
          </a:ln>
        </p:spPr>
        <p:txBody>
          <a:bodyPr/>
          <a:lstStyle/>
          <a:p>
            <a:pPr>
              <a:defRPr sz="1350" b="1">
                <a:solidFill>
                  <a:srgbClr val="137C62"/>
                </a:solidFill>
              </a:defRPr>
            </a:pPr>
            <a:r>
              <a:rPr sz="1350" b="1">
                <a:solidFill>
                  <a:srgbClr val="137C62"/>
                </a:solidFill>
              </a:rPr>
              <a:t>09 / CONCLUSIONS AND NEXT STEPS</a:t>
            </a:r>
          </a:p>
        </p:txBody>
      </p:sp>
      <p:sp>
        <p:nvSpPr>
          <p:cNvPr id="2" name="Rectangle 1">
            <a:extLst>
              <a:ext uri="{FF2B5EF4-FFF2-40B4-BE49-F238E27FC236}">
                <a16:creationId xmlns:a16="http://schemas.microsoft.com/office/drawing/2014/main" id="{A93C0523-22D0-4796-83B8-C5BF9DA9B0AA}"/>
              </a:ext>
            </a:extLst>
          </p:cNvPr>
          <p:cNvSpPr>
            <a:spLocks noGrp="1"/>
          </p:cNvSpPr>
          <p:nvPr/>
        </p:nvSpPr>
        <p:spPr>
          <a:xfrm>
            <a:off x="609600" y="828675"/>
            <a:ext cx="10972800" cy="876300"/>
          </a:xfrm>
          <a:prstGeom prst="rect">
            <a:avLst/>
          </a:prstGeom>
          <a:noFill/>
          <a:ln w="0">
            <a:noFill/>
          </a:ln>
        </p:spPr>
        <p:txBody>
          <a:bodyPr/>
          <a:lstStyle/>
          <a:p>
            <a:pPr>
              <a:defRPr sz="3450" b="1">
                <a:solidFill>
                  <a:srgbClr val="102B3B"/>
                </a:solidFill>
              </a:defRPr>
            </a:pPr>
            <a:r>
              <a:rPr sz="3450" b="1">
                <a:solidFill>
                  <a:srgbClr val="102B3B"/>
                </a:solidFill>
              </a:rPr>
              <a:t>Better data is the next priority</a:t>
            </a:r>
          </a:p>
        </p:txBody>
      </p:sp>
      <p:sp>
        <p:nvSpPr>
          <p:cNvPr id="3" name="Rectangle 2">
            <a:extLst>
              <a:ext uri="{FF2B5EF4-FFF2-40B4-BE49-F238E27FC236}">
                <a16:creationId xmlns:a16="http://schemas.microsoft.com/office/drawing/2014/main" id="{39388F38-5D00-47E1-9ECB-8228A011DAFC}"/>
              </a:ext>
            </a:extLst>
          </p:cNvPr>
          <p:cNvSpPr>
            <a:spLocks noGrp="1"/>
          </p:cNvSpPr>
          <p:nvPr/>
        </p:nvSpPr>
        <p:spPr>
          <a:xfrm>
            <a:off x="609600" y="6381750"/>
            <a:ext cx="9048750" cy="238125"/>
          </a:xfrm>
          <a:prstGeom prst="rect">
            <a:avLst/>
          </a:prstGeom>
          <a:noFill/>
          <a:ln w="0">
            <a:noFill/>
          </a:ln>
        </p:spPr>
        <p:txBody>
          <a:bodyPr/>
          <a:lstStyle/>
          <a:p>
            <a:pPr>
              <a:defRPr sz="1200" b="0">
                <a:solidFill>
                  <a:srgbClr val="526C75"/>
                </a:solidFill>
              </a:defRPr>
            </a:pPr>
            <a:r>
              <a:rPr sz="1200" b="0" dirty="0">
                <a:solidFill>
                  <a:srgbClr val="526C75"/>
                </a:solidFill>
              </a:rPr>
              <a:t>FRESHLENS  /  ITI SUMMER TRAINING</a:t>
            </a:r>
          </a:p>
        </p:txBody>
      </p:sp>
      <p:sp>
        <p:nvSpPr>
          <p:cNvPr id="4" name="Rectangle 3">
            <a:extLst>
              <a:ext uri="{FF2B5EF4-FFF2-40B4-BE49-F238E27FC236}">
                <a16:creationId xmlns:a16="http://schemas.microsoft.com/office/drawing/2014/main" id="{A9A291DD-A638-4CBA-917C-CE68CAB0F761}"/>
              </a:ext>
            </a:extLst>
          </p:cNvPr>
          <p:cNvSpPr>
            <a:spLocks noGrp="1"/>
          </p:cNvSpPr>
          <p:nvPr/>
        </p:nvSpPr>
        <p:spPr>
          <a:xfrm>
            <a:off x="11049000" y="6334125"/>
            <a:ext cx="533400" cy="285750"/>
          </a:xfrm>
          <a:prstGeom prst="rect">
            <a:avLst/>
          </a:prstGeom>
          <a:noFill/>
          <a:ln w="0">
            <a:noFill/>
          </a:ln>
        </p:spPr>
        <p:txBody>
          <a:bodyPr/>
          <a:lstStyle/>
          <a:p>
            <a:pPr>
              <a:defRPr sz="1500" b="1">
                <a:solidFill>
                  <a:srgbClr val="137C62"/>
                </a:solidFill>
              </a:defRPr>
            </a:pPr>
            <a:r>
              <a:rPr sz="1500" b="1">
                <a:solidFill>
                  <a:srgbClr val="137C62"/>
                </a:solidFill>
              </a:rPr>
              <a:t>10</a:t>
            </a:r>
          </a:p>
        </p:txBody>
      </p:sp>
      <p:sp>
        <p:nvSpPr>
          <p:cNvPr id="5" name="Rectangle 4">
            <a:extLst>
              <a:ext uri="{FF2B5EF4-FFF2-40B4-BE49-F238E27FC236}">
                <a16:creationId xmlns:a16="http://schemas.microsoft.com/office/drawing/2014/main" id="{B6DDEC3C-6518-4C86-9D71-8F6B5F0371AF}"/>
              </a:ext>
            </a:extLst>
          </p:cNvPr>
          <p:cNvSpPr>
            <a:spLocks noGrp="1"/>
          </p:cNvSpPr>
          <p:nvPr/>
        </p:nvSpPr>
        <p:spPr>
          <a:xfrm>
            <a:off x="609600" y="1895475"/>
            <a:ext cx="5143500" cy="523875"/>
          </a:xfrm>
          <a:prstGeom prst="rect">
            <a:avLst/>
          </a:prstGeom>
          <a:noFill/>
          <a:ln w="0">
            <a:noFill/>
          </a:ln>
        </p:spPr>
        <p:txBody>
          <a:bodyPr/>
          <a:lstStyle/>
          <a:p>
            <a:pPr>
              <a:defRPr sz="2550" b="1">
                <a:solidFill>
                  <a:srgbClr val="137C62"/>
                </a:solidFill>
              </a:defRPr>
            </a:pPr>
            <a:r>
              <a:rPr sz="2550" b="1">
                <a:solidFill>
                  <a:srgbClr val="137C62"/>
                </a:solidFill>
              </a:rPr>
              <a:t>Built and evaluated</a:t>
            </a:r>
          </a:p>
        </p:txBody>
      </p:sp>
      <p:sp>
        <p:nvSpPr>
          <p:cNvPr id="6" name="Rectangle 5">
            <a:extLst>
              <a:ext uri="{FF2B5EF4-FFF2-40B4-BE49-F238E27FC236}">
                <a16:creationId xmlns:a16="http://schemas.microsoft.com/office/drawing/2014/main" id="{EF475B62-4F47-4165-856E-8EF849A991FF}"/>
              </a:ext>
            </a:extLst>
          </p:cNvPr>
          <p:cNvSpPr>
            <a:spLocks noGrp="1"/>
          </p:cNvSpPr>
          <p:nvPr/>
        </p:nvSpPr>
        <p:spPr>
          <a:xfrm>
            <a:off x="609600" y="2695575"/>
            <a:ext cx="5143500" cy="2476500"/>
          </a:xfrm>
          <a:prstGeom prst="rect">
            <a:avLst/>
          </a:prstGeom>
          <a:noFill/>
          <a:ln w="0">
            <a:noFill/>
          </a:ln>
        </p:spPr>
        <p:txBody>
          <a:bodyPr/>
          <a:lstStyle/>
          <a:p>
            <a:pPr>
              <a:defRPr sz="2100" b="0">
                <a:solidFill>
                  <a:srgbClr val="102B3B"/>
                </a:solidFill>
              </a:defRPr>
            </a:pPr>
            <a:r>
              <a:rPr sz="2100" b="0">
                <a:solidFill>
                  <a:srgbClr val="102B3B"/>
                </a:solidFill>
              </a:rPr>
              <a:t>A complete audit-to-application workflow.</a:t>
            </a:r>
          </a:p>
          <a:p>
            <a:endParaRPr sz="2100" b="0">
              <a:solidFill>
                <a:srgbClr val="102B3B"/>
              </a:solidFill>
            </a:endParaRPr>
          </a:p>
          <a:p>
            <a:pPr>
              <a:defRPr sz="2100" b="0">
                <a:solidFill>
                  <a:srgbClr val="102B3B"/>
                </a:solidFill>
              </a:defRPr>
            </a:pPr>
            <a:r>
              <a:rPr sz="2100" b="0">
                <a:solidFill>
                  <a:srgbClr val="102B3B"/>
                </a:solidFill>
              </a:rPr>
              <a:t>Transfer learning exceeded the CNN.</a:t>
            </a:r>
          </a:p>
          <a:p>
            <a:endParaRPr sz="2100" b="0">
              <a:solidFill>
                <a:srgbClr val="102B3B"/>
              </a:solidFill>
            </a:endParaRPr>
          </a:p>
          <a:p>
            <a:pPr>
              <a:defRPr sz="2100" b="0">
                <a:solidFill>
                  <a:srgbClr val="102B3B"/>
                </a:solidFill>
              </a:defRPr>
            </a:pPr>
            <a:r>
              <a:rPr sz="2100" b="0">
                <a:solidFill>
                  <a:srgbClr val="102B3B"/>
                </a:solidFill>
              </a:rPr>
              <a:t>More files did not guarantee better</a:t>
            </a:r>
          </a:p>
          <a:p>
            <a:pPr>
              <a:defRPr sz="2100" b="0">
                <a:solidFill>
                  <a:srgbClr val="102B3B"/>
                </a:solidFill>
              </a:defRPr>
            </a:pPr>
            <a:r>
              <a:rPr sz="2100" b="0">
                <a:solidFill>
                  <a:srgbClr val="102B3B"/>
                </a:solidFill>
              </a:rPr>
              <a:t>real-world recognition.</a:t>
            </a:r>
          </a:p>
        </p:txBody>
      </p:sp>
      <p:sp>
        <p:nvSpPr>
          <p:cNvPr id="7" name="Rectangle 6">
            <a:extLst>
              <a:ext uri="{FF2B5EF4-FFF2-40B4-BE49-F238E27FC236}">
                <a16:creationId xmlns:a16="http://schemas.microsoft.com/office/drawing/2014/main" id="{4F9259DE-F338-4B2E-84B2-9D0696FDD49F}"/>
              </a:ext>
            </a:extLst>
          </p:cNvPr>
          <p:cNvSpPr>
            <a:spLocks noGrp="1"/>
          </p:cNvSpPr>
          <p:nvPr/>
        </p:nvSpPr>
        <p:spPr>
          <a:xfrm>
            <a:off x="6629400" y="1895475"/>
            <a:ext cx="4953000" cy="523875"/>
          </a:xfrm>
          <a:prstGeom prst="rect">
            <a:avLst/>
          </a:prstGeom>
          <a:noFill/>
          <a:ln w="0">
            <a:noFill/>
          </a:ln>
        </p:spPr>
        <p:txBody>
          <a:bodyPr/>
          <a:lstStyle/>
          <a:p>
            <a:pPr>
              <a:defRPr sz="2550" b="1">
                <a:solidFill>
                  <a:srgbClr val="137C62"/>
                </a:solidFill>
              </a:defRPr>
            </a:pPr>
            <a:r>
              <a:rPr sz="2550" b="1">
                <a:solidFill>
                  <a:srgbClr val="137C62"/>
                </a:solidFill>
              </a:rPr>
              <a:t>Improve next</a:t>
            </a:r>
          </a:p>
        </p:txBody>
      </p:sp>
      <p:sp>
        <p:nvSpPr>
          <p:cNvPr id="8" name="Rectangle 7">
            <a:extLst>
              <a:ext uri="{FF2B5EF4-FFF2-40B4-BE49-F238E27FC236}">
                <a16:creationId xmlns:a16="http://schemas.microsoft.com/office/drawing/2014/main" id="{1A3411FE-31AC-4CBF-83A3-A1C63900FE2D}"/>
              </a:ext>
            </a:extLst>
          </p:cNvPr>
          <p:cNvSpPr>
            <a:spLocks noGrp="1"/>
          </p:cNvSpPr>
          <p:nvPr/>
        </p:nvSpPr>
        <p:spPr>
          <a:xfrm>
            <a:off x="6629400" y="2695575"/>
            <a:ext cx="4953000" cy="2714625"/>
          </a:xfrm>
          <a:prstGeom prst="rect">
            <a:avLst/>
          </a:prstGeom>
          <a:noFill/>
          <a:ln w="0">
            <a:noFill/>
          </a:ln>
        </p:spPr>
        <p:txBody>
          <a:bodyPr/>
          <a:lstStyle/>
          <a:p>
            <a:pPr>
              <a:defRPr sz="2025" b="0">
                <a:solidFill>
                  <a:srgbClr val="102B3B"/>
                </a:solidFill>
              </a:defRPr>
            </a:pPr>
            <a:r>
              <a:rPr sz="2025" b="0">
                <a:solidFill>
                  <a:srgbClr val="102B3B"/>
                </a:solidFill>
              </a:rPr>
              <a:t>Collect diverse natural images.</a:t>
            </a:r>
          </a:p>
          <a:p>
            <a:endParaRPr sz="2025" b="0">
              <a:solidFill>
                <a:srgbClr val="102B3B"/>
              </a:solidFill>
            </a:endParaRPr>
          </a:p>
          <a:p>
            <a:pPr>
              <a:defRPr sz="2025" b="0">
                <a:solidFill>
                  <a:srgbClr val="102B3B"/>
                </a:solidFill>
              </a:defRPr>
            </a:pPr>
            <a:r>
              <a:rPr sz="2025" b="0">
                <a:solidFill>
                  <a:srgbClr val="102B3B"/>
                </a:solidFill>
              </a:rPr>
              <a:t>Improve labels and session separation.</a:t>
            </a:r>
          </a:p>
          <a:p>
            <a:endParaRPr sz="2025" b="0">
              <a:solidFill>
                <a:srgbClr val="102B3B"/>
              </a:solidFill>
            </a:endParaRPr>
          </a:p>
          <a:p>
            <a:pPr>
              <a:defRPr sz="2025" b="0">
                <a:solidFill>
                  <a:srgbClr val="102B3B"/>
                </a:solidFill>
              </a:defRPr>
            </a:pPr>
            <a:r>
              <a:rPr sz="2025" b="0">
                <a:solidFill>
                  <a:srgbClr val="102B3B"/>
                </a:solidFill>
              </a:rPr>
              <a:t>Use a larger independent test set.</a:t>
            </a:r>
          </a:p>
          <a:p>
            <a:endParaRPr sz="2025" b="0">
              <a:solidFill>
                <a:srgbClr val="102B3B"/>
              </a:solidFill>
            </a:endParaRPr>
          </a:p>
          <a:p>
            <a:pPr>
              <a:defRPr sz="2025" b="0">
                <a:solidFill>
                  <a:srgbClr val="102B3B"/>
                </a:solidFill>
              </a:defRPr>
            </a:pPr>
            <a:r>
              <a:rPr sz="2025" b="0">
                <a:solidFill>
                  <a:srgbClr val="102B3B"/>
                </a:solidFill>
              </a:rPr>
              <a:t>Study calibration and input rejection.</a:t>
            </a:r>
          </a:p>
        </p:txBody>
      </p:sp>
      <p:sp>
        <p:nvSpPr>
          <p:cNvPr id="9" name="Rectangle 8">
            <a:extLst>
              <a:ext uri="{FF2B5EF4-FFF2-40B4-BE49-F238E27FC236}">
                <a16:creationId xmlns:a16="http://schemas.microsoft.com/office/drawing/2014/main" id="{D22A4EF9-02E0-4692-AB17-43A3DFDA2076}"/>
              </a:ext>
            </a:extLst>
          </p:cNvPr>
          <p:cNvSpPr>
            <a:spLocks noGrp="1"/>
          </p:cNvSpPr>
          <p:nvPr/>
        </p:nvSpPr>
        <p:spPr>
          <a:xfrm>
            <a:off x="609600" y="5300662"/>
            <a:ext cx="10972800" cy="457200"/>
          </a:xfrm>
          <a:prstGeom prst="rect">
            <a:avLst/>
          </a:prstGeom>
          <a:noFill/>
          <a:ln w="0">
            <a:noFill/>
          </a:ln>
        </p:spPr>
        <p:txBody>
          <a:bodyPr/>
          <a:lstStyle/>
          <a:p>
            <a:pPr>
              <a:defRPr sz="2175" b="1">
                <a:solidFill>
                  <a:srgbClr val="102B3B"/>
                </a:solidFill>
              </a:defRPr>
            </a:pPr>
            <a:r>
              <a:rPr sz="2175" b="1" dirty="0">
                <a:solidFill>
                  <a:srgbClr val="102B3B"/>
                </a:solidFill>
              </a:rPr>
              <a:t>Data diversity, label quality and honest evaluation matter.</a:t>
            </a:r>
          </a:p>
        </p:txBody>
      </p:sp>
      <p:sp>
        <p:nvSpPr>
          <p:cNvPr id="10" name="Rectangle 9">
            <a:extLst>
              <a:ext uri="{FF2B5EF4-FFF2-40B4-BE49-F238E27FC236}">
                <a16:creationId xmlns:a16="http://schemas.microsoft.com/office/drawing/2014/main" id="{09DF14E8-5766-476E-8863-5E67B2D358A1}"/>
              </a:ext>
            </a:extLst>
          </p:cNvPr>
          <p:cNvSpPr>
            <a:spLocks noGrp="1"/>
          </p:cNvSpPr>
          <p:nvPr/>
        </p:nvSpPr>
        <p:spPr>
          <a:xfrm>
            <a:off x="609600" y="5798343"/>
            <a:ext cx="8096250" cy="247650"/>
          </a:xfrm>
          <a:prstGeom prst="rect">
            <a:avLst/>
          </a:prstGeom>
          <a:noFill/>
          <a:ln w="0">
            <a:noFill/>
          </a:ln>
        </p:spPr>
        <p:txBody>
          <a:bodyPr/>
          <a:lstStyle/>
          <a:p>
            <a:pPr>
              <a:defRPr sz="1500" b="0">
                <a:solidFill>
                  <a:srgbClr val="137C62"/>
                </a:solidFill>
              </a:defRPr>
            </a:pPr>
            <a:r>
              <a:rPr lang="en-US" sz="2000" b="1" dirty="0">
                <a:solidFill>
                  <a:schemeClr val="accent3">
                    <a:lumMod val="60000"/>
                    <a:lumOff val="40000"/>
                  </a:schemeClr>
                </a:solidFill>
              </a:rPr>
              <a:t>Thank You </a:t>
            </a:r>
            <a:r>
              <a:rPr sz="2000" b="0" dirty="0">
                <a:solidFill>
                  <a:srgbClr val="137C62"/>
                </a:solidFill>
              </a:rPr>
              <a:t>Questions &amp; discussion</a:t>
            </a:r>
          </a:p>
        </p:txBody>
      </p:sp>
    </p:spTree>
    <p:extLst>
      <p:ext uri="{BB962C8B-B14F-4D97-AF65-F5344CB8AC3E}">
        <p14:creationId xmlns:p14="http://schemas.microsoft.com/office/powerpoint/2010/main" val="49764880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TotalTime>
  <Words>1393</Words>
  <Application>Microsoft Office PowerPoint</Application>
  <DocSecurity>0</DocSecurity>
  <PresentationFormat>Widescreen</PresentationFormat>
  <Paragraphs>231</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Calibri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Abdelrahman Mohamed Hafez</cp:lastModifiedBy>
  <cp:revision>4</cp:revision>
  <dcterms:created xsi:type="dcterms:W3CDTF">2026-09-07T21:40:15Z</dcterms:created>
  <dcterms:modified xsi:type="dcterms:W3CDTF">2026-09-08T17:23:43Z</dcterms:modified>
</cp:coreProperties>
</file>